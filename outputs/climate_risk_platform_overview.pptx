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flip="none" rotWithShape="1">
        <a:gsLst>
          <a:gs pos="0">
            <a:srgbClr val="0F172A"/>
          </a:gs>
          <a:gs pos="100000">
            <a:srgbClr val="1E293B"/>
          </a:gs>
        </a:gsLst>
        <a:lin ang="5400000" scaled="1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" cy="2011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01200" y="457200"/>
            <a:ext cx="228600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D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  <a:ea typeface="Apple SD Gothic Neo"/>
              </a:rPr>
              <a:t>Climate Risk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0">
                <a:solidFill>
                  <a:srgbClr val="3B82F6"/>
                </a:solidFill>
                <a:latin typeface="Calibri"/>
                <a:ea typeface="Apple SD Gothic Neo"/>
              </a:rPr>
              <a:t>NGFS 시나리오 기반 기후 리스크 분석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94A3B8"/>
                </a:solidFill>
                <a:latin typeface="Calibri"/>
                <a:ea typeface="Apple SD Gothic Neo"/>
              </a:rPr>
              <a:t>기후변화 재무 영향 분석  |  ESG 공시 지원 솔루션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486400"/>
            <a:ext cx="1033272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  <a:ea typeface="Apple SD Gothic Neo"/>
              </a:rPr>
              <a:t>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기업이 직면한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기후 리스크 관리, 왜 지금 중요한가?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54864" cy="1645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60120" y="173736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373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ESG 공시 의무화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3172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2025년부터 ISSB/KSSB 기반 기후 관련 공시 의무 시행
미준수 시 투자 제한 및 규제 리스크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54480"/>
            <a:ext cx="52120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54864" cy="1645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37960" y="1737360"/>
            <a:ext cx="411480" cy="4114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7373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탄소 비용 급증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33172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K-ETS 배출권 가격 지속 상승, 직접 재무 영향 확대
Net Zero 시나리오 기준 2050년 $250/tCO2e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52120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77640"/>
            <a:ext cx="54864" cy="1645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0120" y="402336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0233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TCFD 분석 요구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61772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금융기관/투자자의 기후 리스크 분석 요구 증가
시나리오 분석, 재무 영향 정량화 필수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840480"/>
            <a:ext cx="5212080" cy="1920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977640"/>
            <a:ext cx="54864" cy="1645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37960" y="402336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023360"/>
            <a:ext cx="4114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높은 진입장벽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61772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기후 리스크 분석 = 전문인력 + 복잡한 모델링 필요
중소/중견기업의 자체 대응 곤란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3단계 분석 방법론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기초 분석에서 캐시플로우 영향까지, 단계적 심층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6607" y="1554480"/>
            <a:ext cx="3108960" cy="3291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6607" y="1554480"/>
            <a:ext cx="3108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9487" y="17830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8127" y="17373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3B82F6"/>
                </a:solidFill>
                <a:latin typeface="Calibri"/>
                <a:ea typeface="Apple SD Gothic Neo"/>
              </a:rP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207" y="21945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  <a:ea typeface="Apple SD Gothic Neo"/>
              </a:rPr>
              <a:t>기초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207" y="2788920"/>
            <a:ext cx="26517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전환 리스크 개요
물리적 리스크 개요
리스크 존재 여부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5207" y="4343400"/>
            <a:ext cx="118872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제공 중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92727" y="2926080"/>
            <a:ext cx="411480" cy="4572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1367" y="1554480"/>
            <a:ext cx="3108960" cy="329184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41367" y="1554480"/>
            <a:ext cx="310896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4247" y="1783080"/>
            <a:ext cx="411480" cy="41148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72887" y="17373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97316"/>
                </a:solidFill>
                <a:latin typeface="Calibri"/>
                <a:ea typeface="Apple SD Gothic Neo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9967" y="21945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  <a:ea typeface="Apple SD Gothic Neo"/>
              </a:rPr>
              <a:t>심층 시나리오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9967" y="2788920"/>
            <a:ext cx="26517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NGFS 4개 시나리오 비교
시설별 NPV 영향 산출
리스크 등급 순위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69967" y="4343400"/>
            <a:ext cx="1188720" cy="3200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제공 중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787487" y="2926080"/>
            <a:ext cx="411480" cy="4572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36127" y="1554480"/>
            <a:ext cx="3108960" cy="329184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36127" y="1554480"/>
            <a:ext cx="310896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19007" y="1783080"/>
            <a:ext cx="411480" cy="4114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647" y="1737360"/>
            <a:ext cx="21945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22C55E"/>
                </a:solidFill>
                <a:latin typeface="Calibri"/>
                <a:ea typeface="Apple SD Gothic Neo"/>
              </a:rPr>
              <a:t>Stage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4727" y="21945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  <a:ea typeface="Apple SD Gothic Neo"/>
              </a:rPr>
              <a:t>캐시플로우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4727" y="2788920"/>
            <a:ext cx="26517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DCF 모델 기반
전환+물리적 통합 분석
현금흐름 재무영향 정량화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64727" y="4343400"/>
            <a:ext cx="1188720" cy="32004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개발 예정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9496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17개 시설 분석  |  NGFS 국제 표준 시나리오  |  K-ETS 한국 정책 반영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분석 포트폴리오 (데모)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한국 대표 산업 8개 섹터 커버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005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시설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17개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463040"/>
            <a:ext cx="3383280" cy="1005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19" y="15544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기업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18745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9개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8" y="1463040"/>
            <a:ext cx="3383280" cy="1005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8" y="15544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섹터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58" y="18745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8개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834640"/>
            <a:ext cx="3383280" cy="1005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260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Scope 1+2 배출량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461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207M tCO2e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834640"/>
            <a:ext cx="3383280" cy="1005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19" y="29260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총 자산규모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19" y="32461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$359B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598" y="2834640"/>
            <a:ext cx="3383280" cy="10058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58" y="2926080"/>
            <a:ext cx="31089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총 매출규모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324612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$614B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429768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834640"/>
                <a:gridCol w="2834640"/>
              </a:tblGrid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섹터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시설 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배출량 (MtCO2e)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자산 ($B)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철강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61.8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$47.0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발전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46.2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$29.5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정유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19.1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석유화학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28.2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$37.0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반도체/전자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27.4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$173.0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시멘트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13.9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$9.0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자동차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6.0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$28.0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해운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$8.5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Stage 1: 기초 리스크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전환 리스크와 물리적 리스크, 어떤 위험이 있는가?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36576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1206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  <a:ea typeface="Apple SD Gothic Neo"/>
              </a:rPr>
              <a:t>전환 리스크 요약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286000"/>
            <a:ext cx="2103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774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기준년도 총 배출량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97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3B82F6"/>
                </a:solidFill>
                <a:latin typeface="Calibri"/>
                <a:ea typeface="Apple SD Gothic Neo"/>
              </a:rPr>
              <a:t>N/A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286000"/>
            <a:ext cx="2103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3774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Net Zero 2050 NPV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697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EF4444"/>
                </a:solidFill>
                <a:latin typeface="Calibri"/>
                <a:ea typeface="Apple SD Gothic Neo"/>
              </a:rPr>
              <a:t>-$114.7B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탄소 비용 + 에너지 비용 + 매출 영향의 총합
4개 NGFS 시나리오별 전환 비용 산출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463040"/>
            <a:ext cx="5120640" cy="365760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463040"/>
            <a:ext cx="51206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E293B"/>
                </a:solidFill>
                <a:latin typeface="Calibri"/>
                <a:ea typeface="Apple SD Gothic Neo"/>
              </a:rPr>
              <a:t>물리적 리스크 요약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286000"/>
            <a:ext cx="2103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23774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총 연간예상손실(EAL)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697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97316"/>
                </a:solidFill>
                <a:latin typeface="Calibri"/>
                <a:ea typeface="Apple SD Gothic Neo"/>
              </a:rPr>
              <a:t>$82704.5M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2286000"/>
            <a:ext cx="2103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23774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고위험 시설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26974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EF4444"/>
                </a:solidFill>
                <a:latin typeface="Calibri"/>
                <a:ea typeface="Apple SD Gothic Neo"/>
              </a:rPr>
              <a:t>17개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572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5대 기후재해 (홍수/태풍/폭염/가뭄/해수면)
Analytical v1 모델 + Open-Meteo 실측 데이터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핵심 질문: 기후 리스크가 존재하는가?  →  다음 단계 심층 분석 필요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NGFS 4개 시나리오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시나리오별 탄소가격 경로 및 감축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시나리오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2025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2030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2050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감축 목표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Net Zero 2050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97316"/>
                          </a:solidFill>
                          <a:latin typeface="Calibri"/>
                          <a:ea typeface="Apple SD Gothic Neo"/>
                        </a:rPr>
                        <a:t>Below 2°C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$60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40%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AB308"/>
                          </a:solidFill>
                          <a:latin typeface="Calibri"/>
                          <a:ea typeface="Apple SD Gothic Neo"/>
                        </a:rPr>
                        <a:t>Delayed Transition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$180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2C55E"/>
                          </a:solidFill>
                          <a:latin typeface="Calibri"/>
                          <a:ea typeface="Apple SD Gothic Neo"/>
                        </a:rPr>
                        <a:t>Current Policies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$25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$40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15%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114800"/>
            <a:ext cx="521208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4206240"/>
            <a:ext cx="54864" cy="8229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Net Zero 2050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61772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1.5C 목표, 즉각적이고 원활한 전환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114800"/>
            <a:ext cx="521208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4206240"/>
            <a:ext cx="54864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2062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Below 2C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461772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2C 미만 목표, 점진적 전환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03520"/>
            <a:ext cx="521208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394960"/>
            <a:ext cx="54864" cy="8229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3949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Delayed Transition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064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2030년까지 정책 지연 후 급격한 전환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303520"/>
            <a:ext cx="521208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5394960"/>
            <a:ext cx="54864" cy="822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39496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Current Policies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8064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현재 정책 유지, 제한적 추가 조치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전환 리스크 - 재무 영향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배출경로 &gt; ETS비용 &gt; 에너지비용 &gt; 매출영향 &gt; NPV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731520" y="1417320"/>
            <a:ext cx="2121408" cy="82296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배출 경로
시뮬레이션</a:t>
            </a:r>
          </a:p>
        </p:txBody>
      </p:sp>
      <p:sp>
        <p:nvSpPr>
          <p:cNvPr id="7" name="Chevron 6"/>
          <p:cNvSpPr/>
          <p:nvPr/>
        </p:nvSpPr>
        <p:spPr>
          <a:xfrm>
            <a:off x="2944368" y="1417320"/>
            <a:ext cx="2121408" cy="822960"/>
          </a:xfrm>
          <a:prstGeom prst="chevron">
            <a:avLst/>
          </a:prstGeom>
          <a:solidFill>
            <a:srgbClr val="2B7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ETS 비용
산출</a:t>
            </a:r>
          </a:p>
        </p:txBody>
      </p:sp>
      <p:sp>
        <p:nvSpPr>
          <p:cNvPr id="8" name="Chevron 7"/>
          <p:cNvSpPr/>
          <p:nvPr/>
        </p:nvSpPr>
        <p:spPr>
          <a:xfrm>
            <a:off x="5157216" y="1417320"/>
            <a:ext cx="2121408" cy="822960"/>
          </a:xfrm>
          <a:prstGeom prst="chevron">
            <a:avLst/>
          </a:prstGeom>
          <a:solidFill>
            <a:srgbClr val="1B6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에너지 비용
증가분</a:t>
            </a:r>
          </a:p>
        </p:txBody>
      </p:sp>
      <p:sp>
        <p:nvSpPr>
          <p:cNvPr id="9" name="Chevron 8"/>
          <p:cNvSpPr/>
          <p:nvPr/>
        </p:nvSpPr>
        <p:spPr>
          <a:xfrm>
            <a:off x="7370064" y="1417320"/>
            <a:ext cx="2121408" cy="822960"/>
          </a:xfrm>
          <a:prstGeom prst="chevron">
            <a:avLst/>
          </a:prstGeom>
          <a:solidFill>
            <a:srgbClr val="0B5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매출 영향
분석</a:t>
            </a:r>
          </a:p>
        </p:txBody>
      </p:sp>
      <p:sp>
        <p:nvSpPr>
          <p:cNvPr id="10" name="Chevron 9"/>
          <p:cNvSpPr/>
          <p:nvPr/>
        </p:nvSpPr>
        <p:spPr>
          <a:xfrm>
            <a:off x="9582912" y="1417320"/>
            <a:ext cx="2121408" cy="822960"/>
          </a:xfrm>
          <a:prstGeom prst="chevron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NPV
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시나리오별 총 NPV 영향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2560320" cy="201168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063240"/>
            <a:ext cx="23774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2461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Net Zero 2050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EF4444"/>
                </a:solidFill>
                <a:latin typeface="Calibri"/>
                <a:ea typeface="Apple SD Gothic Neo"/>
              </a:rPr>
              <a:t>-$114.7B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리스크 수준: High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2194560" cy="1371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20440" y="3063240"/>
            <a:ext cx="2560320" cy="201168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11880" y="3063240"/>
            <a:ext cx="23774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2461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Below 2°C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6576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F97316"/>
                </a:solidFill>
                <a:latin typeface="Calibri"/>
                <a:ea typeface="Apple SD Gothic Neo"/>
              </a:rPr>
              <a:t>-$107.2B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2976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리스크 수준: High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03320" y="4754880"/>
            <a:ext cx="2049559" cy="1371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09360" y="3063240"/>
            <a:ext cx="2560320" cy="2011680"/>
          </a:xfrm>
          <a:prstGeom prst="roundRect">
            <a:avLst/>
          </a:prstGeom>
          <a:solidFill>
            <a:srgbClr val="FEF9C3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23774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Delayed Transition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EAB308"/>
                </a:solidFill>
                <a:latin typeface="Calibri"/>
                <a:ea typeface="Apple SD Gothic Neo"/>
              </a:rPr>
              <a:t>-$91.3B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2976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리스크 수준: 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754880"/>
            <a:ext cx="1745487" cy="13716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098280" y="3063240"/>
            <a:ext cx="2560320" cy="2011680"/>
          </a:xfrm>
          <a:prstGeom prst="roundRect">
            <a:avLst/>
          </a:prstGeom>
          <a:solidFill>
            <a:srgbClr val="DCFCE7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89720" y="3063240"/>
            <a:ext cx="237744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24612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  <a:ea typeface="Apple SD Gothic Neo"/>
              </a:rPr>
              <a:t>Current Policies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3657600"/>
            <a:ext cx="2194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200" b="1">
                <a:solidFill>
                  <a:srgbClr val="22C55E"/>
                </a:solidFill>
                <a:latin typeface="Calibri"/>
                <a:ea typeface="Apple SD Gothic Neo"/>
              </a:rPr>
              <a:t>-$50.9B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4297680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리스크 수준: High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81160" y="4754880"/>
            <a:ext cx="973014" cy="13716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  <a:ea typeface="Apple SD Gothic Neo"/>
              </a:rPr>
              <a:t>* 시나리오에 따라 최대 2배 차이나는 전환 비용  |  할인율: 8% WACC  |  분석 기간: 2025~2050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시설별 리스크 순위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Net Zero 2050 시나리오 기준 Top 5 고위험 시설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1828800"/>
                <a:gridCol w="1828800"/>
                <a:gridCol w="1645920"/>
                <a:gridCol w="173736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순위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시설명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섹터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Delta NPV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자산 대비 %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리스크 등급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울산정유공장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정유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-$14.8B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포항제철소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철강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-$12.5B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-50.1%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대산정유공장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정유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-$11.7B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-97.7%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광양제철소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철강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-$10.8B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-49.2%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울산석유화학단지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석유화학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-$9.5B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-47.6%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섹터별 취약도 순위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3659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정유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754880"/>
            <a:ext cx="731520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473659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-$26.5B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철강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5001768"/>
            <a:ext cx="6447470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2110" y="49834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-$23.4B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303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발전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5248656"/>
            <a:ext cx="5916026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0666" y="523036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-$21.4B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7725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석유화학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5495544"/>
            <a:ext cx="4724267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58907" y="5477256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-$17.1B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2414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반도체/전자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0" y="5742432"/>
            <a:ext cx="3131864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66504" y="5724144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-$11.3B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97103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자동차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0" y="5989320"/>
            <a:ext cx="1667075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01715" y="5971032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-$6.0B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17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시멘트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6236208"/>
            <a:ext cx="1587351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1991" y="62179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-$5.7B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6480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해운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6483096"/>
            <a:ext cx="893467" cy="1828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8107" y="6464808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  <a:ea typeface="Apple SD Gothic Neo"/>
              </a:rPr>
              <a:t>-$3.2B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6400800"/>
            <a:ext cx="10698480" cy="320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6419088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리스크 등급 기준:  High = NPV가 자산의 -15% 이상  |  Medium = -5%~-15%  |  Low = -5% 미만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물리적 리스크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기후재해 유형별 시설 취약도 평가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011680" cy="14630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20116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홍수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집중호우/하천범람
연안 침수 위험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554480"/>
            <a:ext cx="2011680" cy="14630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554480"/>
            <a:ext cx="20116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69164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태풍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10312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강풍/폭풍해일
시설 물리적 손상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554480"/>
            <a:ext cx="2011680" cy="14630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554480"/>
            <a:ext cx="20116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169164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폭염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0312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냉각 효율 저하
작업자 안전/생산성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1554480"/>
            <a:ext cx="2011680" cy="14630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554480"/>
            <a:ext cx="2011680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169164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가뭄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10312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용수 공급 차질
냉각수 부족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554480"/>
            <a:ext cx="2011680" cy="146304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554480"/>
            <a:ext cx="201168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38360" y="169164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1E293B"/>
                </a:solidFill>
                <a:latin typeface="Calibri"/>
                <a:ea typeface="Apple SD Gothic Neo"/>
              </a:rPr>
              <a:t>해수면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8360" y="210312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연안 시설 침수
장기 입지 리스크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시설별 연간 예상손실(EAL) Top 5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31520" y="3657600"/>
          <a:ext cx="10698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1828800"/>
                <a:gridCol w="1645920"/>
                <a:gridCol w="2011680"/>
                <a:gridCol w="219456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순위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시설명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위치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위험 등급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EAL ($M)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Apple SD Gothic Neo"/>
                        </a:rPr>
                        <a:t>주요 재해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광양제철소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전남 광양시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$9985.8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여수석유화학단지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전남 여수시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$9533.1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화성반도체공장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경기 화성시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$8885.0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울산석유화학단지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울산 남구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$8423.6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포항제철소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경북 포항시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F4444"/>
                          </a:solidFill>
                          <a:latin typeface="Calibri"/>
                          <a:ea typeface="Apple SD Gothic Neo"/>
                        </a:rP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$8360.6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E1E1E"/>
                          </a:solidFill>
                          <a:latin typeface="Calibri"/>
                          <a:ea typeface="Apple SD Gothic Neo"/>
                        </a:rPr>
                        <a:t>태풍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731520" y="566928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6072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Apple SD Gothic Neo"/>
              </a:rPr>
              <a:t>시설 리스크 분포:  </a:t>
            </a:r>
            <a:r>
              <a:rPr sz="1400" b="1">
                <a:solidFill>
                  <a:srgbClr val="FEE2E2"/>
                </a:solidFill>
                <a:latin typeface="Calibri"/>
                <a:ea typeface="Apple SD Gothic Neo"/>
              </a:rPr>
              <a:t>High 17개</a:t>
            </a:r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  |  </a:t>
            </a:r>
            <a:r>
              <a:rPr sz="1400" b="1">
                <a:solidFill>
                  <a:srgbClr val="FFEDD5"/>
                </a:solidFill>
                <a:latin typeface="Calibri"/>
                <a:ea typeface="Apple SD Gothic Neo"/>
              </a:rPr>
              <a:t>Medium 0개</a:t>
            </a:r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  |  </a:t>
            </a:r>
            <a:r>
              <a:rPr sz="1400" b="1">
                <a:solidFill>
                  <a:srgbClr val="DCFCE7"/>
                </a:solidFill>
                <a:latin typeface="Calibri"/>
                <a:ea typeface="Apple SD Gothic Neo"/>
              </a:rPr>
              <a:t>Low 0개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8064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200" b="0">
                <a:solidFill>
                  <a:srgbClr val="94A3B8"/>
                </a:solidFill>
                <a:latin typeface="Calibri"/>
                <a:ea typeface="Apple SD Gothic Neo"/>
              </a:rPr>
              <a:t>Analytical v1 모델 | KMA 30년 통계 + IPCC AR6 + Open-Meteo API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Stage 3: 캐시플로우 영향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기후 리스크가 기업 현금흐름에 미치는 영향 (개발 예정)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731520" y="1463040"/>
            <a:ext cx="2121408" cy="822960"/>
          </a:xfrm>
          <a:prstGeom prst="chevron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기존 FCF
추정</a:t>
            </a:r>
          </a:p>
        </p:txBody>
      </p:sp>
      <p:sp>
        <p:nvSpPr>
          <p:cNvPr id="7" name="Chevron 6"/>
          <p:cNvSpPr/>
          <p:nvPr/>
        </p:nvSpPr>
        <p:spPr>
          <a:xfrm>
            <a:off x="2944368" y="1463040"/>
            <a:ext cx="2121408" cy="822960"/>
          </a:xfrm>
          <a:prstGeom prst="chevron">
            <a:avLst/>
          </a:prstGeom>
          <a:solidFill>
            <a:srgbClr val="2B7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전환 리스크
반영</a:t>
            </a:r>
          </a:p>
        </p:txBody>
      </p:sp>
      <p:sp>
        <p:nvSpPr>
          <p:cNvPr id="8" name="Chevron 7"/>
          <p:cNvSpPr/>
          <p:nvPr/>
        </p:nvSpPr>
        <p:spPr>
          <a:xfrm>
            <a:off x="5157216" y="1463040"/>
            <a:ext cx="2121408" cy="822960"/>
          </a:xfrm>
          <a:prstGeom prst="chevron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물리적 리스크
반영</a:t>
            </a:r>
          </a:p>
        </p:txBody>
      </p:sp>
      <p:sp>
        <p:nvSpPr>
          <p:cNvPr id="9" name="Chevron 8"/>
          <p:cNvSpPr/>
          <p:nvPr/>
        </p:nvSpPr>
        <p:spPr>
          <a:xfrm>
            <a:off x="7370064" y="1463040"/>
            <a:ext cx="2121408" cy="822960"/>
          </a:xfrm>
          <a:prstGeom prst="chevron">
            <a:avLst/>
          </a:prstGeom>
          <a:solidFill>
            <a:srgbClr val="E05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할인율
조정</a:t>
            </a:r>
          </a:p>
        </p:txBody>
      </p:sp>
      <p:sp>
        <p:nvSpPr>
          <p:cNvPr id="10" name="Chevron 9"/>
          <p:cNvSpPr/>
          <p:nvPr/>
        </p:nvSpPr>
        <p:spPr>
          <a:xfrm>
            <a:off x="9582912" y="1463040"/>
            <a:ext cx="2121408" cy="822960"/>
          </a:xfrm>
          <a:prstGeom prst="chevr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Apple SD Gothic Neo"/>
              </a:rPr>
              <a:t>기후조정
NPV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3383280" cy="201168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880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시나리오별 조정 FCF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290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탄소비용, EAL, 자산손상 반영
시나리오별 현금흐름 변동 추정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651760"/>
            <a:ext cx="3383280" cy="2011680"/>
          </a:xfrm>
          <a:prstGeom prst="roundRect">
            <a:avLst/>
          </a:prstGeom>
          <a:solidFill>
            <a:srgbClr val="FFEDD5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59" y="2651760"/>
            <a:ext cx="3383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2880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Climate-adjusted WACC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4290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시나리오별 리스크 프리미엄 할인율
기후 리스크 반영 자본비용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2651760"/>
            <a:ext cx="3383280" cy="2011680"/>
          </a:xfrm>
          <a:prstGeom prst="roundRect">
            <a:avLst/>
          </a:prstGeom>
          <a:solidFill>
            <a:srgbClr val="FEE2E2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598" y="2651760"/>
            <a:ext cx="33832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8" y="28803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Climate 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8" y="3429000"/>
            <a:ext cx="29260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최악 시나리오 최대 가치 하락폭
포트폴리오 전체 리스크 규모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0" y="4937760"/>
            <a:ext cx="2103120" cy="3657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Apple SD Gothic Neo"/>
              </a:rPr>
              <a:t>2026 H2 개발 예정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  <a:ea typeface="Apple SD Gothic Neo"/>
              </a:rPr>
              <a:t>Stage 1 + 2의 분석 결과를 통합한 재무 모델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ESG 공시 원스톱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TCFD / ISSB / KSSB 3대 프레임워크 자동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TCFD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3B82F6"/>
                </a:solidFill>
                <a:latin typeface="Calibri"/>
                <a:ea typeface="Apple SD Gothic Neo"/>
              </a:rPr>
              <a:t>82점 / 100점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준수 수준: 우수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준수 </a:t>
            </a:r>
            <a:r>
              <a:rPr sz="1100" b="1">
                <a:solidFill>
                  <a:srgbClr val="22C55E"/>
                </a:solidFill>
                <a:latin typeface="Calibri"/>
                <a:ea typeface="Apple SD Gothic Neo"/>
              </a:rPr>
              <a:t>6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  |  부분 </a:t>
            </a:r>
            <a:r>
              <a:rPr sz="1100" b="1">
                <a:solidFill>
                  <a:srgbClr val="F97316"/>
                </a:solidFill>
                <a:latin typeface="Calibri"/>
                <a:ea typeface="Apple SD Gothic Neo"/>
              </a:rPr>
              <a:t>3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  |  미준수 </a:t>
            </a:r>
            <a:r>
              <a:rPr sz="1100" b="1">
                <a:solidFill>
                  <a:srgbClr val="EF4444"/>
                </a:solidFill>
                <a:latin typeface="Calibri"/>
                <a:ea typeface="Apple SD Gothic Neo"/>
              </a:rP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554480"/>
            <a:ext cx="33832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554480"/>
            <a:ext cx="3383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17373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ISSB (IFRS S2)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39" y="219456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F97316"/>
                </a:solidFill>
                <a:latin typeface="Calibri"/>
                <a:ea typeface="Apple SD Gothic Neo"/>
              </a:rPr>
              <a:t>83점 / 100점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743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준수 수준: 우수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315468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준수 </a:t>
            </a:r>
            <a:r>
              <a:rPr sz="1100" b="1">
                <a:solidFill>
                  <a:srgbClr val="22C55E"/>
                </a:solidFill>
                <a:latin typeface="Calibri"/>
                <a:ea typeface="Apple SD Gothic Neo"/>
              </a:rPr>
              <a:t>3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  |  부분 </a:t>
            </a:r>
            <a:r>
              <a:rPr sz="1100" b="1">
                <a:solidFill>
                  <a:srgbClr val="F97316"/>
                </a:solidFill>
                <a:latin typeface="Calibri"/>
                <a:ea typeface="Apple SD Gothic Neo"/>
              </a:rPr>
              <a:t>4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  |  미준수 </a:t>
            </a:r>
            <a:r>
              <a:rPr sz="1100" b="1">
                <a:solidFill>
                  <a:srgbClr val="EF4444"/>
                </a:solidFill>
                <a:latin typeface="Calibri"/>
                <a:ea typeface="Apple SD Gothic Neo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598" y="1554480"/>
            <a:ext cx="33832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554480"/>
            <a:ext cx="338328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8" y="173736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KSSB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8" y="219456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22C55E"/>
                </a:solidFill>
                <a:latin typeface="Calibri"/>
                <a:ea typeface="Apple SD Gothic Neo"/>
              </a:rPr>
              <a:t>83점 / 100점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8" y="274320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준수 수준: 우수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8" y="3154680"/>
            <a:ext cx="31089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준수 </a:t>
            </a:r>
            <a:r>
              <a:rPr sz="1100" b="1">
                <a:solidFill>
                  <a:srgbClr val="22C55E"/>
                </a:solidFill>
                <a:latin typeface="Calibri"/>
                <a:ea typeface="Apple SD Gothic Neo"/>
              </a:rPr>
              <a:t>2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  |  부분 </a:t>
            </a:r>
            <a:r>
              <a:rPr sz="1100" b="1">
                <a:solidFill>
                  <a:srgbClr val="F97316"/>
                </a:solidFill>
                <a:latin typeface="Calibri"/>
                <a:ea typeface="Apple SD Gothic Neo"/>
              </a:rPr>
              <a:t>3</a:t>
            </a:r>
            <a:r>
              <a:rPr sz="1100" b="0">
                <a:solidFill>
                  <a:srgbClr val="475569"/>
                </a:solidFill>
                <a:latin typeface="Calibri"/>
                <a:ea typeface="Apple SD Gothic Neo"/>
              </a:rPr>
              <a:t>  |  미준수 </a:t>
            </a:r>
            <a:r>
              <a:rPr sz="1100" b="1">
                <a:solidFill>
                  <a:srgbClr val="EF4444"/>
                </a:solidFill>
                <a:latin typeface="Calibri"/>
                <a:ea typeface="Apple SD Gothic Neo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  <a:ea typeface="Apple SD Gothic Neo"/>
              </a:rPr>
              <a:t>주요 기능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63440"/>
            <a:ext cx="10698480" cy="18288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- 자동 준수도 점검 (체크리스트 + 점수)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- 공시 서술문 초안 자동 생성 (거버넌스/전략/리스크관리/지표)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- 개선 권고사항 도출 및 우선순위 제시</a:t>
            </a:r>
          </a:p>
          <a:p>
            <a:pPr>
              <a:spcBef>
                <a:spcPts val="200"/>
              </a:spcBef>
              <a:spcAft>
                <a:spcPts val="700"/>
              </a:spcAft>
            </a:pPr>
            <a:r>
              <a:rPr sz="1400" b="0">
                <a:solidFill>
                  <a:srgbClr val="475569"/>
                </a:solidFill>
                <a:latin typeface="Calibri"/>
                <a:ea typeface="Apple SD Gothic Neo"/>
              </a:rPr>
              <a:t>- 분석 결과 &gt; 공시 데이터 자동 연계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  <a:ea typeface="Apple SD Gothic Neo"/>
              </a:rPr>
              <a:t>단계 기반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분석 심화 단계별 기능 확장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6400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Apple SD Gothic Neo"/>
              </a:rPr>
              <a:t>Stage 1 + 2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Apple SD Gothic Neo"/>
              </a:rPr>
              <a:t>현재 제공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3383280" cy="3657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3108960" cy="3291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전환 리스크 시나리오 분석 (NGFS 4개)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K-ETS 무상할당 분석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물리적 리스크 평가 (Analytical v1)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Open-Meteo 실측 데이터 연동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ESG 공시 (TCFD/ISSB/KSSB)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인터랙티브 웹 대시보드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463040"/>
            <a:ext cx="3383280" cy="6400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39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Apple SD Gothic Neo"/>
              </a:rPr>
              <a:t>Stage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17830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Apple SD Gothic Neo"/>
              </a:rPr>
              <a:t>2026 H2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103120"/>
            <a:ext cx="3383280" cy="3657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19" y="2286000"/>
            <a:ext cx="3108960" cy="3291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현금흐름 영향 모델 (DCF)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전환+물리적 통합 재무분석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Climate VaR 산출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시나리오별 WACC 조정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MACC 감축 비용 곡선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8" y="1463040"/>
            <a:ext cx="338328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8" y="150876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Apple SD Gothic Neo"/>
              </a:rPr>
              <a:t>확장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8" y="178308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  <a:ea typeface="Apple SD Gothic Neo"/>
              </a:rPr>
              <a:t>2027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598" y="2103120"/>
            <a:ext cx="3383280" cy="36576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58" y="2286000"/>
            <a:ext cx="3108960" cy="32918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고객 데이터 직접 업로드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DB 연동 (Oracle, PostgreSQL)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API 연동 (ERP, 탄소회계)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산업별 벤치마크 비교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475569"/>
                </a:solidFill>
                <a:latin typeface="Calibri"/>
                <a:ea typeface="Apple SD Gothic Neo"/>
              </a:rPr>
              <a:t>- PDF 리포트 자동 생성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943600"/>
            <a:ext cx="10698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60320" y="5833872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9359" y="5833872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398" y="5833872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6537960"/>
            <a:ext cx="10698480" cy="1828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0" y="656539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5653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bg>
    <p:bgPr>
      <a:gradFill flip="none" rotWithShape="1">
        <a:gsLst>
          <a:gs pos="0">
            <a:srgbClr val="0F172A"/>
          </a:gs>
          <a:gs pos="100000">
            <a:srgbClr val="1E293B"/>
          </a:gs>
        </a:gsLst>
        <a:lin ang="5400000" scaled="1"/>
      </a:gradFill>
      <a:effectLst/>
    </p:bgPr>
  </p:bg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  <a:ea typeface="Apple SD Gothic Neo"/>
              </a:rPr>
              <a:t>도입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8288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3832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3383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3B82F6"/>
                </a:solidFill>
                <a:latin typeface="Calibri"/>
                <a:ea typeface="Apple SD Gothic Neo"/>
              </a:rPr>
              <a:t>클라우드 (SaaS)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별도 설치 없이 즉시 사용
자동 업데이트, 유지보수 포함
월 구독 요금제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39" y="2011680"/>
            <a:ext cx="33832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63439" y="2011680"/>
            <a:ext cx="338328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39" y="21945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F97316"/>
                </a:solidFill>
                <a:latin typeface="Calibri"/>
                <a:ea typeface="Apple SD Gothic Neo"/>
              </a:rPr>
              <a:t>온프레미스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39" y="274320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고객사 서버에 직접 설치
데이터 외부 유출 차단
커스텀 보안 정책 적용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78" y="2011680"/>
            <a:ext cx="3383280" cy="219456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78" y="2011680"/>
            <a:ext cx="3383280" cy="457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78" y="2194560"/>
            <a:ext cx="2926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22C55E"/>
                </a:solidFill>
                <a:latin typeface="Calibri"/>
                <a:ea typeface="Apple SD Gothic Neo"/>
              </a:rPr>
              <a:t>커스터마이징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78" y="2743200"/>
            <a:ext cx="2926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  <a:ea typeface="Apple SD Gothic Neo"/>
              </a:rPr>
              <a:t>고객사 데이터 맞춤 설정
산업별 파라미터 조정
기존 시스템 연동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10332720" cy="91440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>
            <a:outerShdw blurRad="50800" dist="25400" dir="5400000" algn="bl" rotWithShape="0">
              <a:srgbClr val="00000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  <a:ea typeface="Apple SD Gothic Neo"/>
              </a:rPr>
              <a:t>즉시 체험 가능: 데모 사이트 또는 로컬 설치 (Docker 기반 원클릭 배포)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0F172A"/>
                </a:solidFill>
                <a:latin typeface="Calibri"/>
                <a:ea typeface="Apple SD Gothic Neo"/>
              </a:rPr>
              <a:t>npm run dev (프론트엔드) + uvicorn (백엔드) &gt; 5분 내 로컬 환경 구축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  <a:ea typeface="Apple SD Gothic Neo"/>
              </a:rPr>
              <a:t>문의: climate-risk@example.com  |  Tel: 02-XXX-XXXX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309360"/>
            <a:ext cx="10332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475569"/>
                </a:solidFill>
                <a:latin typeface="Calibri"/>
                <a:ea typeface="Apple SD Gothic Neo"/>
              </a:rPr>
              <a:t>Climate Risk Platform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