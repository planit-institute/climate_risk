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gradFill flip="none" rotWithShape="1">
        <a:gsLst>
          <a:gs pos="0">
            <a:srgbClr val="0F172A"/>
          </a:gs>
          <a:gs pos="100000">
            <a:srgbClr val="1E293B"/>
          </a:gs>
        </a:gsLst>
        <a:lin ang="5400000" scaled="1"/>
      </a:gra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91440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  <a:ea typeface="Apple SD Gothic Neo"/>
              </a:rPr>
              <a:t>Climate Risk Disclosure Advisory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>
                <a:solidFill>
                  <a:srgbClr val="3B82F6"/>
                </a:solidFill>
                <a:latin typeface="Calibri"/>
                <a:ea typeface="Apple SD Gothic Neo"/>
              </a:rPr>
              <a:t>기후 리스크 공시 자문 제안서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2026-02-25  |  Confidential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25603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7490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분석 대상 시설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17개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40" y="3657600"/>
            <a:ext cx="25603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37490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분석 대상 섹터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40690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8개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657600"/>
            <a:ext cx="25603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37490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총 배출량 (S1+S2)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40690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207M tCO2e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3657600"/>
            <a:ext cx="25603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37490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총 자산 규모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406908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$359B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486400"/>
            <a:ext cx="1033272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NGFS 시나리오 기반 전환·물리적 리스크 통합 분석  |  ESG 공시 준비도 평가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경영진 요약  |  주요 분석 결과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468880" cy="1005840"/>
          </a:xfrm>
          <a:prstGeom prst="roundRect">
            <a:avLst/>
          </a:prstGeom>
          <a:solidFill>
            <a:srgbClr val="FEE2E2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전환 리스크 NPV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EF4444"/>
                </a:solidFill>
                <a:latin typeface="Calibri"/>
                <a:ea typeface="Apple SD Gothic Neo"/>
              </a:rPr>
              <a:t>-$44.8B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63040"/>
            <a:ext cx="2468880" cy="1005840"/>
          </a:xfrm>
          <a:prstGeom prst="roundRect">
            <a:avLst/>
          </a:prstGeom>
          <a:solidFill>
            <a:srgbClr val="FFEDD5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5544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고위험 시설 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87452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97316"/>
                </a:solidFill>
                <a:latin typeface="Calibri"/>
                <a:ea typeface="Apple SD Gothic Neo"/>
              </a:rPr>
              <a:t>7개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468880" cy="100584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544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KSSB 준수 점수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7452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3B82F6"/>
                </a:solidFill>
                <a:latin typeface="Calibri"/>
                <a:ea typeface="Apple SD Gothic Neo"/>
              </a:rPr>
              <a:t>83%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463040"/>
            <a:ext cx="2468880" cy="1005840"/>
          </a:xfrm>
          <a:prstGeom prst="roundRect">
            <a:avLst/>
          </a:prstGeom>
          <a:solidFill>
            <a:srgbClr val="DCFCE7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5544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물리적 리스크 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87452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6B6D4"/>
                </a:solidFill>
                <a:latin typeface="Calibri"/>
                <a:ea typeface="Apple SD Gothic Neo"/>
              </a:rPr>
              <a:t>$82160.4M/yr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  <a:ea typeface="Apple SD Gothic Neo"/>
              </a:rPr>
              <a:t>Key Findings  |  주요 발견사항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291840"/>
            <a:ext cx="1069848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3B82F6"/>
                </a:solidFill>
                <a:latin typeface="Calibri"/>
                <a:ea typeface="Apple SD Gothic Neo"/>
              </a:rPr>
              <a:t>●  </a:t>
            </a:r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Net Zero 2050 시나리오 기준, 포트폴리오 전체 NPV 영향 -$44.8B (자산 대비 12.5%)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3B82F6"/>
                </a:solidFill>
                <a:latin typeface="Calibri"/>
                <a:ea typeface="Apple SD Gothic Neo"/>
              </a:rPr>
              <a:t>●  </a:t>
            </a:r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전체 17개 시설 중 7개 시설이 고위험(High Risk) 등급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3B82F6"/>
                </a:solidFill>
                <a:latin typeface="Calibri"/>
                <a:ea typeface="Apple SD Gothic Neo"/>
              </a:rPr>
              <a:t>●  </a:t>
            </a:r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물리적 리스크 연간 예상 손실(EAL) $82160.4M — 홍수·태풍이 주요 위험 요인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3B82F6"/>
                </a:solidFill>
                <a:latin typeface="Calibri"/>
                <a:ea typeface="Apple SD Gothic Neo"/>
              </a:rPr>
              <a:t>●  </a:t>
            </a:r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KSSB 공시 준비도 83% — 2025년 의무 공시 기한 대비 추가 준비 필요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Advisory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Regulatory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규제 환경  |  주요 기후 공시 프레임워크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329184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1E293B"/>
                </a:solidFill>
                <a:latin typeface="Calibri"/>
                <a:ea typeface="Apple SD Gothic Neo"/>
              </a:rPr>
              <a:t>TCFD / ISSB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글로벌 기후 공시 표준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21992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IFRS S1/S2: 2024.01 발효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78024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거버넌스·전략·리스크관리·지표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34056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시나리오 분석 필수 요구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9008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Scope 1/2/3 배출량 공시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463040"/>
            <a:ext cx="33832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1463040"/>
            <a:ext cx="329184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6002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1E293B"/>
                </a:solidFill>
                <a:latin typeface="Calibri"/>
                <a:ea typeface="Apple SD Gothic Neo"/>
              </a:rPr>
              <a:t>KSSB 한국 공시기준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96596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한국 지속가능성기준위원회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21992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2025: 자산 2조원+ 의무 공시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478024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2027: 전 상장사 확대 적용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734056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ISSB 기반 + 한국 특화 요건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99008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K-ETS 연계 배출권 정보 공시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463040"/>
            <a:ext cx="338328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1463040"/>
            <a:ext cx="329184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6002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1E293B"/>
                </a:solidFill>
                <a:latin typeface="Calibri"/>
                <a:ea typeface="Apple SD Gothic Neo"/>
              </a:rPr>
              <a:t>EU CBAM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196596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EU 탄소국경조정제도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2221992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2026.01 본격 시행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2478024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철강·시멘트·알루미늄 대상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2734056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내재 탄소 비용 과세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299008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한국 수출기업 직접 영향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303520"/>
            <a:ext cx="10698480" cy="73152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394960"/>
            <a:ext cx="10149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  <a:ea typeface="Apple SD Gothic Neo"/>
              </a:rPr>
              <a:t>규제 미준수 시: 과징금, 투자자 신뢰 하락, ESG 평가 등급 하락, 수출 경쟁력 저하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Advisory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Why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왜 지금인가  |  규제 타임라인과 시급성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mpo_etx90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515600" cy="2560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206240"/>
            <a:ext cx="33832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4206240"/>
            <a:ext cx="329184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1E293B"/>
                </a:solidFill>
                <a:latin typeface="Calibri"/>
                <a:ea typeface="Apple SD Gothic Neo"/>
              </a:rPr>
              <a:t>규제 압력 가속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0916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KSSB 의무 공시 2025년 시행. 준비 기간 1년 미만.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206240"/>
            <a:ext cx="33832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4206240"/>
            <a:ext cx="329184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3434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1E293B"/>
                </a:solidFill>
                <a:latin typeface="Calibri"/>
                <a:ea typeface="Apple SD Gothic Neo"/>
              </a:rPr>
              <a:t>투자자 요구 증대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70916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글로벌 기관투자자 73%가 기후 리스크 공시를 투자 결정에 반영 (PwC 2024).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206240"/>
            <a:ext cx="33832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4206240"/>
            <a:ext cx="329184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34340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1E293B"/>
                </a:solidFill>
                <a:latin typeface="Calibri"/>
                <a:ea typeface="Apple SD Gothic Neo"/>
              </a:rPr>
              <a:t>선제적 대응 = 경쟁 우위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470916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조기 공시 기업은 자본비용 30-50bp 절감 효과 (Bolton &amp; Kacperczyk 2021).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Advisory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gradFill flip="none" rotWithShape="1">
        <a:gsLst>
          <a:gs pos="0">
            <a:srgbClr val="0F172A"/>
          </a:gs>
          <a:gs pos="100000">
            <a:srgbClr val="1E293B"/>
          </a:gs>
        </a:gsLst>
        <a:lin ang="2700000" scaled="1"/>
      </a:gradFill>
      <a:effectLst/>
    </p:bgPr>
  </p:bg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600" b="1">
                <a:solidFill>
                  <a:srgbClr val="3B82F6"/>
                </a:solidFill>
                <a:latin typeface="Calibri"/>
                <a:ea typeface="Apple SD Gothic Neo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32004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  <a:ea typeface="Apple SD Gothic Neo"/>
              </a:rPr>
              <a:t>Your Climate Risk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  <a:ea typeface="Apple SD Gothic Neo"/>
              </a:rPr>
              <a:t>귀사의 기후 리스크 프로파일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Portfolio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포트폴리오 개요  |  분석 대상 시설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468880" cy="82296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반도체/전자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3B82F6"/>
                </a:solidFill>
                <a:latin typeface="Calibri"/>
                <a:ea typeface="Apple SD Gothic Neo"/>
              </a:rPr>
              <a:t>3개 시설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468880" cy="82296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4630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발전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78308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3B82F6"/>
                </a:solidFill>
                <a:latin typeface="Calibri"/>
                <a:ea typeface="Apple SD Gothic Neo"/>
              </a:rPr>
              <a:t>3개 시설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468880" cy="82296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630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철강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8308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3B82F6"/>
                </a:solidFill>
                <a:latin typeface="Calibri"/>
                <a:ea typeface="Apple SD Gothic Neo"/>
              </a:rPr>
              <a:t>2개 시설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371600"/>
            <a:ext cx="2468880" cy="82296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46304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석유화학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78308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3B82F6"/>
                </a:solidFill>
                <a:latin typeface="Calibri"/>
                <a:ea typeface="Apple SD Gothic Neo"/>
              </a:rPr>
              <a:t>2개 시설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" y="246888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2194560"/>
                <a:gridCol w="2011680"/>
                <a:gridCol w="2103120"/>
              </a:tblGrid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시설명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섹터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배출량 (S1+S2)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자산 규모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매출액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포항제철소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철강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33.2M tCO2e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$25.0B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$32.0B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광양제철소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철강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28.6M tCO2e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$22.0B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$28.0B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울산석유화학단지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석유화학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15.8M tCO2e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$20.0B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$45.0B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여수석유화학단지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석유화학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12.4M tCO2e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$17.0B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$38.0B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울산자동차공장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자동차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4.0M tCO2e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$18.0B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$55.0B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아산자동차공장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자동차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2.0M tCO2e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$10.0B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$28.0B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화성반도체공장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반도체/전자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11.7M tCO2e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$80.0B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$120.0B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평택반도체공장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반도체/전자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10.0M tCO2e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$65.0B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$95.0B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구미디스플레이공장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반도체/전자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5.7M tCO2e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$28.0B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$42.0B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당진화력발전소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발전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18.5M tCO2e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$12.0B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$8.0B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태안화력발전소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발전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15.4M tCO2e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$9.5B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$6.5B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영흥화력발전소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발전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12.3M tCO2e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$8.0B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$5.2B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단양시멘트공장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시멘트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7.7M tCO2e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$5.0B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$3.8B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영월시멘트공장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시멘트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6.2M tCO2e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$4.0B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$3.0B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부산항 해운기지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해운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4.5M tCO2e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$8.5B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$12.0B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울산정유공장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정유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10.6M tCO2e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$15.0B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$52.0B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대산정유공장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정유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8.5M tCO2e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$12.0B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$40.0B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Advisory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Transition Risk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전환 리스크 요약  |  NGFS 4대 시나리오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mpzklv7fj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46304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293B"/>
                </a:solidFill>
                <a:latin typeface="Calibri"/>
                <a:ea typeface="Apple SD Gothic Neo"/>
              </a:rPr>
              <a:t>리스크 분포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011680"/>
            <a:ext cx="320040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0" y="2011680"/>
            <a:ext cx="73152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0574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  <a:ea typeface="Apple SD Gothic Neo"/>
              </a:rPr>
              <a:t>넷제로 2050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33172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EF4444"/>
                </a:solidFill>
                <a:latin typeface="Calibri"/>
                <a:ea typeface="Apple SD Gothic Neo"/>
              </a:rPr>
              <a:t>H:</a:t>
            </a:r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 7</a:t>
            </a:r>
            <a:r>
              <a:rPr sz="1000" b="1">
                <a:solidFill>
                  <a:srgbClr val="F97316"/>
                </a:solidFill>
                <a:latin typeface="Calibri"/>
                <a:ea typeface="Apple SD Gothic Neo"/>
              </a:rPr>
              <a:t>  M:</a:t>
            </a:r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 5</a:t>
            </a:r>
            <a:r>
              <a:rPr sz="1000" b="1">
                <a:solidFill>
                  <a:srgbClr val="22C55E"/>
                </a:solidFill>
                <a:latin typeface="Calibri"/>
                <a:ea typeface="Apple SD Gothic Neo"/>
              </a:rPr>
              <a:t>  L:</a:t>
            </a:r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834640"/>
            <a:ext cx="320040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2834640"/>
            <a:ext cx="73152" cy="7315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8803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  <a:ea typeface="Apple SD Gothic Neo"/>
              </a:rPr>
              <a:t>2°C 이하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15468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EF4444"/>
                </a:solidFill>
                <a:latin typeface="Calibri"/>
                <a:ea typeface="Apple SD Gothic Neo"/>
              </a:rPr>
              <a:t>H:</a:t>
            </a:r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 5</a:t>
            </a:r>
            <a:r>
              <a:rPr sz="1000" b="1">
                <a:solidFill>
                  <a:srgbClr val="F97316"/>
                </a:solidFill>
                <a:latin typeface="Calibri"/>
                <a:ea typeface="Apple SD Gothic Neo"/>
              </a:rPr>
              <a:t>  M:</a:t>
            </a:r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 7</a:t>
            </a:r>
            <a:r>
              <a:rPr sz="1000" b="1">
                <a:solidFill>
                  <a:srgbClr val="22C55E"/>
                </a:solidFill>
                <a:latin typeface="Calibri"/>
                <a:ea typeface="Apple SD Gothic Neo"/>
              </a:rPr>
              <a:t>  L:</a:t>
            </a:r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 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657600"/>
            <a:ext cx="320040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3657600"/>
            <a:ext cx="73152" cy="7315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70332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  <a:ea typeface="Apple SD Gothic Neo"/>
              </a:rPr>
              <a:t>지연 전환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9776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EF4444"/>
                </a:solidFill>
                <a:latin typeface="Calibri"/>
                <a:ea typeface="Apple SD Gothic Neo"/>
              </a:rPr>
              <a:t>H:</a:t>
            </a:r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 5</a:t>
            </a:r>
            <a:r>
              <a:rPr sz="1000" b="1">
                <a:solidFill>
                  <a:srgbClr val="F97316"/>
                </a:solidFill>
                <a:latin typeface="Calibri"/>
                <a:ea typeface="Apple SD Gothic Neo"/>
              </a:rPr>
              <a:t>  M:</a:t>
            </a:r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 0</a:t>
            </a:r>
            <a:r>
              <a:rPr sz="1000" b="1">
                <a:solidFill>
                  <a:srgbClr val="22C55E"/>
                </a:solidFill>
                <a:latin typeface="Calibri"/>
                <a:ea typeface="Apple SD Gothic Neo"/>
              </a:rPr>
              <a:t>  L:</a:t>
            </a:r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 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4480560"/>
            <a:ext cx="3200400" cy="731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4480560"/>
            <a:ext cx="73152" cy="7315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5262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  <a:ea typeface="Apple SD Gothic Neo"/>
              </a:rPr>
              <a:t>현행 정책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8006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EF4444"/>
                </a:solidFill>
                <a:latin typeface="Calibri"/>
                <a:ea typeface="Apple SD Gothic Neo"/>
              </a:rPr>
              <a:t>H:</a:t>
            </a:r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 0</a:t>
            </a:r>
            <a:r>
              <a:rPr sz="1000" b="1">
                <a:solidFill>
                  <a:srgbClr val="F97316"/>
                </a:solidFill>
                <a:latin typeface="Calibri"/>
                <a:ea typeface="Apple SD Gothic Neo"/>
              </a:rPr>
              <a:t>  M:</a:t>
            </a:r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 5</a:t>
            </a:r>
            <a:r>
              <a:rPr sz="1000" b="1">
                <a:solidFill>
                  <a:srgbClr val="22C55E"/>
                </a:solidFill>
                <a:latin typeface="Calibri"/>
                <a:ea typeface="Apple SD Gothic Neo"/>
              </a:rPr>
              <a:t>  L:</a:t>
            </a:r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 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Advisory  |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Transition Cost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전환 비용 분석  |  비용 구성 및 고위험 시설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mpex59_y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9436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293B"/>
                </a:solidFill>
                <a:latin typeface="Calibri"/>
                <a:ea typeface="Apple SD Gothic Neo"/>
              </a:rPr>
              <a:t>Top 5 고위험 시설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0" y="1828800"/>
          <a:ext cx="4114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188720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시설명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Delta NPV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리스크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울산정유공장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-$9.8B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대산정유공장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-$7.7B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당진화력발전소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-$4.0B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울산석유화학단지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-$3.3B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태안화력발전소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-$3.2B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846320"/>
            <a:ext cx="10698480" cy="8229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Apple SD Gothic Neo"/>
              </a:rPr>
              <a:t>총 NPV: </a:t>
            </a:r>
            <a:r>
              <a:rPr sz="1400" b="1">
                <a:solidFill>
                  <a:srgbClr val="FEE2E2"/>
                </a:solidFill>
                <a:latin typeface="Calibri"/>
                <a:ea typeface="Apple SD Gothic Neo"/>
              </a:rPr>
              <a:t>-$44.8B</a:t>
            </a:r>
            <a:r>
              <a:rPr sz="1200" b="0">
                <a:solidFill>
                  <a:srgbClr val="94A3B8"/>
                </a:solidFill>
                <a:latin typeface="Calibri"/>
                <a:ea typeface="Apple SD Gothic Neo"/>
              </a:rPr>
              <a:t>    탄소: </a:t>
            </a:r>
            <a:r>
              <a:rPr sz="1200" b="1">
                <a:solidFill>
                  <a:srgbClr val="DBEAFE"/>
                </a:solidFill>
                <a:latin typeface="Calibri"/>
                <a:ea typeface="Apple SD Gothic Neo"/>
              </a:rPr>
              <a:t>$0.0B</a:t>
            </a:r>
            <a:r>
              <a:rPr sz="1200" b="0">
                <a:solidFill>
                  <a:srgbClr val="94A3B8"/>
                </a:solidFill>
                <a:latin typeface="Calibri"/>
                <a:ea typeface="Apple SD Gothic Neo"/>
              </a:rPr>
              <a:t>    에너지: </a:t>
            </a:r>
            <a:r>
              <a:rPr sz="1200" b="1">
                <a:solidFill>
                  <a:srgbClr val="DBEAFE"/>
                </a:solidFill>
                <a:latin typeface="Calibri"/>
                <a:ea typeface="Apple SD Gothic Neo"/>
              </a:rPr>
              <a:t>$2.4B</a:t>
            </a:r>
            <a:r>
              <a:rPr sz="1200" b="0">
                <a:solidFill>
                  <a:srgbClr val="94A3B8"/>
                </a:solidFill>
                <a:latin typeface="Calibri"/>
                <a:ea typeface="Apple SD Gothic Neo"/>
              </a:rPr>
              <a:t>    매출: </a:t>
            </a:r>
            <a:r>
              <a:rPr sz="1200" b="1">
                <a:solidFill>
                  <a:srgbClr val="DBEAFE"/>
                </a:solidFill>
                <a:latin typeface="Calibri"/>
                <a:ea typeface="Apple SD Gothic Neo"/>
              </a:rPr>
              <a:t>$3.2B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Advisory  |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Carbon Price Pathways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탄소가격 경로  |  NGFS 시나리오별 전망 (2024-2050)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mp676rg7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5156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669280"/>
            <a:ext cx="10698480" cy="64008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760720"/>
            <a:ext cx="10149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  <a:ea typeface="Apple SD Gothic Neo"/>
              </a:rPr>
              <a:t>Net Zero 2050: 2030년 $130/tCO2e → 2050년 $250/tCO2e  |  탄소 집약적 산업에 대한 비용 부담 급격히 증가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Advisory  |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Physical Risk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물리적 리스크 요약  |  기후재해 유형별 시설 취약도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mpnuk1xx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3716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293B"/>
                </a:solidFill>
                <a:latin typeface="Calibri"/>
                <a:ea typeface="Apple SD Gothic Neo"/>
              </a:rPr>
              <a:t>리스크 요약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920240"/>
            <a:ext cx="3200400" cy="77724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01168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총 EAL (연간)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33172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3B82F6"/>
                </a:solidFill>
                <a:latin typeface="Calibri"/>
                <a:ea typeface="Apple SD Gothic Neo"/>
              </a:rPr>
              <a:t>$82160.4M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834640"/>
            <a:ext cx="3200400" cy="777240"/>
          </a:xfrm>
          <a:prstGeom prst="roundRect">
            <a:avLst/>
          </a:prstGeom>
          <a:solidFill>
            <a:srgbClr val="FEE2E2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92608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고위험 시설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24612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EF4444"/>
                </a:solidFill>
                <a:latin typeface="Calibri"/>
                <a:ea typeface="Apple SD Gothic Neo"/>
              </a:rPr>
              <a:t>17개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749040"/>
            <a:ext cx="3200400" cy="777240"/>
          </a:xfrm>
          <a:prstGeom prst="roundRect">
            <a:avLst/>
          </a:prstGeom>
          <a:solidFill>
            <a:srgbClr val="FFEDD5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84048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중위험 시설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16052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97316"/>
                </a:solidFill>
                <a:latin typeface="Calibri"/>
                <a:ea typeface="Apple SD Gothic Neo"/>
              </a:rPr>
              <a:t>0개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663440"/>
            <a:ext cx="3200400" cy="7772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475488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분석 시나리오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507492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475569"/>
                </a:solidFill>
                <a:latin typeface="Calibri"/>
                <a:ea typeface="Apple SD Gothic Neo"/>
              </a:rPr>
              <a:t>net_zero_2050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Advisory  |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Physical Risk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물리적 리스크 상세  |  시설별 EAL 및 재해 유형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011680" cy="9144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0116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E293B"/>
                </a:solidFill>
                <a:latin typeface="Calibri"/>
                <a:ea typeface="Apple SD Gothic Neo"/>
              </a:rPr>
              <a:t>홍수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집중호우/하천범람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371600"/>
            <a:ext cx="2011680" cy="9144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1371600"/>
            <a:ext cx="201168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4630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E293B"/>
                </a:solidFill>
                <a:latin typeface="Calibri"/>
                <a:ea typeface="Apple SD Gothic Neo"/>
              </a:rPr>
              <a:t>태풍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78308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강풍/폭풍해일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371600"/>
            <a:ext cx="2011680" cy="9144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371600"/>
            <a:ext cx="201168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4630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E293B"/>
                </a:solidFill>
                <a:latin typeface="Calibri"/>
                <a:ea typeface="Apple SD Gothic Neo"/>
              </a:rPr>
              <a:t>폭염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78308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냉각효율/생산성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371600"/>
            <a:ext cx="2011680" cy="9144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1371600"/>
            <a:ext cx="2011680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4630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E293B"/>
                </a:solidFill>
                <a:latin typeface="Calibri"/>
                <a:ea typeface="Apple SD Gothic Neo"/>
              </a:rPr>
              <a:t>가뭄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78308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용수부족/냉각수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1371600"/>
            <a:ext cx="2011680" cy="9144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0" y="1371600"/>
            <a:ext cx="20116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14630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E293B"/>
                </a:solidFill>
                <a:latin typeface="Calibri"/>
                <a:ea typeface="Apple SD Gothic Neo"/>
              </a:rPr>
              <a:t>해수면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178308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연안시설 침수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5603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  <a:ea typeface="Apple SD Gothic Neo"/>
              </a:rPr>
              <a:t>시설별 연간예상손실(EAL) Top 5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31520" y="301752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1828800"/>
                <a:gridCol w="1645920"/>
                <a:gridCol w="2011680"/>
                <a:gridCol w="2194560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순위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시설명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위치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위험등급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EAL ($M)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주요 재해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광양제철소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전남 광양시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$9925.9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태풍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여수석유화학단지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전남 여수시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$9459.2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태풍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화성반도체공장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경기 화성시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$8838.8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태풍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울산석유화학단지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울산 남구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$8332.1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태풍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포항제철소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경북 포항시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$8286.2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태풍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731520" y="5303520"/>
            <a:ext cx="10698480" cy="731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949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Apple SD Gothic Neo"/>
              </a:rPr>
              <a:t>총 EAL: </a:t>
            </a:r>
            <a:r>
              <a:rPr sz="1400" b="1">
                <a:solidFill>
                  <a:srgbClr val="DBEAFE"/>
                </a:solidFill>
                <a:latin typeface="Calibri"/>
                <a:ea typeface="Apple SD Gothic Neo"/>
              </a:rPr>
              <a:t>$82160.4M</a:t>
            </a:r>
            <a:r>
              <a:rPr sz="1400" b="0">
                <a:solidFill>
                  <a:srgbClr val="FFFFFF"/>
                </a:solidFill>
                <a:latin typeface="Calibri"/>
                <a:ea typeface="Apple SD Gothic Neo"/>
              </a:rPr>
              <a:t>    </a:t>
            </a:r>
            <a:r>
              <a:rPr sz="1400" b="1">
                <a:solidFill>
                  <a:srgbClr val="FEE2E2"/>
                </a:solidFill>
                <a:latin typeface="Calibri"/>
                <a:ea typeface="Apple SD Gothic Neo"/>
              </a:rPr>
              <a:t>High 17개</a:t>
            </a:r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  |  </a:t>
            </a:r>
            <a:r>
              <a:rPr sz="1400" b="1">
                <a:solidFill>
                  <a:srgbClr val="FFEDD5"/>
                </a:solidFill>
                <a:latin typeface="Calibri"/>
                <a:ea typeface="Apple SD Gothic Neo"/>
              </a:rPr>
              <a:t>Medium 0개</a:t>
            </a:r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  |  </a:t>
            </a:r>
            <a:r>
              <a:rPr sz="1400" b="1">
                <a:solidFill>
                  <a:srgbClr val="DCFCE7"/>
                </a:solidFill>
                <a:latin typeface="Calibri"/>
                <a:ea typeface="Apple SD Gothic Neo"/>
              </a:rPr>
              <a:t>Low 0개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Advisory  | 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K-ETS Impact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K-ETS 영향 분석  |  무상할당 축소 전망 및 글로벌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mpk1xjrcb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40080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3716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293B"/>
                </a:solidFill>
                <a:latin typeface="Calibri"/>
                <a:ea typeface="Apple SD Gothic Neo"/>
              </a:rPr>
              <a:t>K-ETS 주요 변동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828800"/>
            <a:ext cx="3657600" cy="9601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1828800"/>
            <a:ext cx="54864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87452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  <a:ea typeface="Apple SD Gothic Neo"/>
              </a:rPr>
              <a:t>Phase 4 (2026~)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14884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강화된 할당 기준
연간 1-2%p 무상할당 축소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926080"/>
            <a:ext cx="3657600" cy="9601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2926080"/>
            <a:ext cx="54864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297180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  <a:ea typeface="Apple SD Gothic Neo"/>
              </a:rPr>
              <a:t>EITE 업종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24612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철강·시멘트 97% → 점진 감소
수출 경쟁력 보호 한시적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023360"/>
            <a:ext cx="3657600" cy="9601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4023360"/>
            <a:ext cx="54864" cy="960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40690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  <a:ea typeface="Apple SD Gothic Neo"/>
              </a:rPr>
              <a:t>발전 부문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34340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90% 무상할당 시작
연간 1.5%p 가속 축소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5120640"/>
            <a:ext cx="3657600" cy="9601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5120640"/>
            <a:ext cx="54864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51663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  <a:ea typeface="Apple SD Gothic Neo"/>
              </a:rPr>
              <a:t>비용 영향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5440680"/>
            <a:ext cx="32918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초과 배출분만 과금
글로벌 대비 비용 절감 효과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Advisory  | 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gradFill flip="none" rotWithShape="1">
        <a:gsLst>
          <a:gs pos="0">
            <a:srgbClr val="0F172A"/>
          </a:gs>
          <a:gs pos="100000">
            <a:srgbClr val="1E293B"/>
          </a:gs>
        </a:gsLst>
        <a:lin ang="2700000" scaled="1"/>
      </a:gradFill>
      <a:effectLst/>
    </p:bgPr>
  </p:bg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600" b="1">
                <a:solidFill>
                  <a:srgbClr val="3B82F6"/>
                </a:solidFill>
                <a:latin typeface="Calibri"/>
                <a:ea typeface="Apple SD Gothic Neo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32004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  <a:ea typeface="Apple SD Gothic Neo"/>
              </a:rPr>
              <a:t>ESG Disclosure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  <a:ea typeface="Apple SD Gothic Neo"/>
              </a:rPr>
              <a:t>ESG 공시 준비도 평가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ESG Compliance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ESG 준수 점수  |  3대 프레임워크 평가 결과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mpv7na__n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0292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293B"/>
                </a:solidFill>
                <a:latin typeface="Calibri"/>
                <a:ea typeface="Apple SD Gothic Neo"/>
              </a:rPr>
              <a:t>프레임워크별 점수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20240"/>
            <a:ext cx="5029200" cy="10972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920240"/>
            <a:ext cx="731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  <a:ea typeface="Apple SD Gothic Neo"/>
              </a:rPr>
              <a:t>ISSB (IFRS S2)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3317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점수: </a:t>
            </a:r>
            <a:r>
              <a:rPr sz="1600" b="1">
                <a:solidFill>
                  <a:srgbClr val="3B82F6"/>
                </a:solidFill>
                <a:latin typeface="Calibri"/>
                <a:ea typeface="Apple SD Gothic Neo"/>
              </a:rPr>
              <a:t>83%</a:t>
            </a:r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    준수 수준: </a:t>
            </a:r>
            <a:r>
              <a:rPr sz="1200" b="1">
                <a:solidFill>
                  <a:srgbClr val="1E293B"/>
                </a:solidFill>
                <a:latin typeface="Calibri"/>
                <a:ea typeface="Apple SD Gothic Neo"/>
              </a:rPr>
              <a:t>우수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517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  <a:ea typeface="Apple SD Gothic Neo"/>
              </a:rPr>
              <a:t>성숙도: Lv.4 관리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200400"/>
            <a:ext cx="5029200" cy="10972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3200400"/>
            <a:ext cx="73152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2918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  <a:ea typeface="Apple SD Gothic Neo"/>
              </a:rPr>
              <a:t>TCFD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6118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점수: </a:t>
            </a:r>
            <a:r>
              <a:rPr sz="1600" b="1">
                <a:solidFill>
                  <a:srgbClr val="F97316"/>
                </a:solidFill>
                <a:latin typeface="Calibri"/>
                <a:ea typeface="Apple SD Gothic Neo"/>
              </a:rPr>
              <a:t>82%</a:t>
            </a:r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    준수 수준: </a:t>
            </a:r>
            <a:r>
              <a:rPr sz="1200" b="1">
                <a:solidFill>
                  <a:srgbClr val="1E293B"/>
                </a:solidFill>
                <a:latin typeface="Calibri"/>
                <a:ea typeface="Apple SD Gothic Neo"/>
              </a:rPr>
              <a:t>우수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9319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  <a:ea typeface="Apple SD Gothic Neo"/>
              </a:rPr>
              <a:t>성숙도: Lv.4 관리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480560"/>
            <a:ext cx="5029200" cy="10972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480560"/>
            <a:ext cx="73152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5720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  <a:ea typeface="Apple SD Gothic Neo"/>
              </a:rPr>
              <a:t>KSSB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8920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점수: </a:t>
            </a:r>
            <a:r>
              <a:rPr sz="1600" b="1">
                <a:solidFill>
                  <a:srgbClr val="22C55E"/>
                </a:solidFill>
                <a:latin typeface="Calibri"/>
                <a:ea typeface="Apple SD Gothic Neo"/>
              </a:rPr>
              <a:t>83%</a:t>
            </a:r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    준수 수준: </a:t>
            </a:r>
            <a:r>
              <a:rPr sz="1200" b="1">
                <a:solidFill>
                  <a:srgbClr val="1E293B"/>
                </a:solidFill>
                <a:latin typeface="Calibri"/>
                <a:ea typeface="Apple SD Gothic Neo"/>
              </a:rPr>
              <a:t>우수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2120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  <a:ea typeface="Apple SD Gothic Neo"/>
              </a:rPr>
              <a:t>성숙도: Lv.4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Advisory  | 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갭 분석  |  KSSB 준수를 위한 우선순위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371600"/>
                <a:gridCol w="182880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카테고리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현재 점수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목표 점수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갭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우선순위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난이도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지표 및 목표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5.0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거버넌스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75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100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25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2.5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medium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리스크 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1.5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산업별 공시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85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100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15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0.5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  <a:ea typeface="Apple SD Gothic Neo"/>
              </a:rPr>
              <a:t>권장 조치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3B82F6"/>
                </a:solidFill>
                <a:latin typeface="Calibri"/>
                <a:ea typeface="Apple SD Gothic Neo"/>
              </a:rPr>
              <a:t>●  </a:t>
            </a:r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한국 지속가능성 공시기준에 맞춘 거버넌스 체계 수립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3B82F6"/>
                </a:solidFill>
                <a:latin typeface="Calibri"/>
                <a:ea typeface="Apple SD Gothic Neo"/>
              </a:rPr>
              <a:t>●  </a:t>
            </a:r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환경부 MRV 가이드라인에 맞춘 배출량 검증 필요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3B82F6"/>
                </a:solidFill>
                <a:latin typeface="Calibri"/>
                <a:ea typeface="Apple SD Gothic Neo"/>
              </a:rPr>
              <a:t>●  </a:t>
            </a:r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2030 NDC 40% 감축 목표와의 정합성 분석이 필요합니다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3B82F6"/>
                </a:solidFill>
                <a:latin typeface="Calibri"/>
                <a:ea typeface="Apple SD Gothic Neo"/>
              </a:rPr>
              <a:t>●  </a:t>
            </a:r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해당 산업의 추가 공시 요구사항을 확인하세요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3B82F6"/>
                </a:solidFill>
                <a:latin typeface="Calibri"/>
                <a:ea typeface="Apple SD Gothic Neo"/>
              </a:rPr>
              <a:t>●  </a:t>
            </a:r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물리적 리스크 대응 적응 전략 수립을 권고합니다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Advisory  | 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Regulatory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규제 일정  |  주요 기후 공시 마감일 및 D-Day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3200400"/>
                <a:gridCol w="1371600"/>
                <a:gridCol w="246888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규제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시행일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설명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D-Day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상태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ISSB (IFRS S1/S2) 발효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2024-01-01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글로벌 지속가능성 공시 기준 발효 (IFRS S1/S2...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D-786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C55E"/>
                          </a:solidFill>
                          <a:latin typeface="Calibri"/>
                          <a:ea typeface="Apple SD Gothic Neo"/>
                        </a:rPr>
                        <a:t>시행 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KSSB 의무 공시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2025-01-01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자산 2조원 이상 상장사 의무 공시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D-420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C55E"/>
                          </a:solidFill>
                          <a:latin typeface="Calibri"/>
                          <a:ea typeface="Apple SD Gothic Neo"/>
                        </a:rPr>
                        <a:t>시행 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K-ETS 4기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2026-01-01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배출권거래제 4기 시행 (강화된 할당)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D-55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C55E"/>
                          </a:solidFill>
                          <a:latin typeface="Calibri"/>
                          <a:ea typeface="Apple SD Gothic Neo"/>
                        </a:rPr>
                        <a:t>시행 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EU CBAM 본격 시행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2026-01-01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EU 탄소국경조정제도 본격 시행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D-55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C55E"/>
                          </a:solidFill>
                          <a:latin typeface="Calibri"/>
                          <a:ea typeface="Apple SD Gothic Neo"/>
                        </a:rPr>
                        <a:t>시행 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KSSB 전면 적용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2027-01-01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전 상장사 의무 공시 확대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D+310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긴급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  <a:ea typeface="Apple SD Gothic Neo"/>
              </a:rPr>
              <a:t>대응 전략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3B82F6"/>
                </a:solidFill>
                <a:latin typeface="Calibri"/>
                <a:ea typeface="Apple SD Gothic Neo"/>
              </a:rPr>
              <a:t>●  </a:t>
            </a:r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즉시: KSSB 공시 준비 태스크포스 구성 및 갭 분석 착수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3B82F6"/>
                </a:solidFill>
                <a:latin typeface="Calibri"/>
                <a:ea typeface="Apple SD Gothic Neo"/>
              </a:rPr>
              <a:t>●  </a:t>
            </a:r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6개월 내: Scope 1/2 배출량 산정 체계 구축 및 내부 검증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3B82F6"/>
                </a:solidFill>
                <a:latin typeface="Calibri"/>
                <a:ea typeface="Apple SD Gothic Neo"/>
              </a:rPr>
              <a:t>●  </a:t>
            </a:r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12개월 내: 시나리오 분석 완료 및 KSSB 양식 초안 작성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3B82F6"/>
                </a:solidFill>
                <a:latin typeface="Calibri"/>
                <a:ea typeface="Apple SD Gothic Neo"/>
              </a:rPr>
              <a:t>●  </a:t>
            </a:r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18개월 내: 외부 인증 및 공시 보고서 최종 발행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Advisory  |  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gradFill flip="none" rotWithShape="1">
        <a:gsLst>
          <a:gs pos="0">
            <a:srgbClr val="0F172A"/>
          </a:gs>
          <a:gs pos="100000">
            <a:srgbClr val="1E293B"/>
          </a:gs>
        </a:gsLst>
        <a:lin ang="2700000" scaled="1"/>
      </a:gradFill>
      <a:effectLst/>
    </p:bgPr>
  </p:bg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27432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600" b="1">
                <a:solidFill>
                  <a:srgbClr val="3B82F6"/>
                </a:solidFill>
                <a:latin typeface="Calibri"/>
                <a:ea typeface="Apple SD Gothic Neo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32004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  <a:ea typeface="Apple SD Gothic Neo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  <a:ea typeface="Apple SD Gothic Neo"/>
              </a:rPr>
              <a:t>Climate Risk Platform을 활용한 통합 솔루션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Platform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플랫폼 역량  |  통합 기후 리스크 분석 솔루션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329184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1E293B"/>
                </a:solidFill>
                <a:latin typeface="Calibri"/>
                <a:ea typeface="Apple SD Gothic Neo"/>
              </a:rPr>
              <a:t>전환 리스크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NGFS 4대 시나리오 기반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30552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S-curve 배출 경로 모델링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86584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섹터별 기술 감축 스택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탄소가격 경로 시뮬레이션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9864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K-ETS 무상할당 반영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5468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좌초자산 분석 (Carbon Tracker)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410712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시나리오 NPV 비교 분석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371600"/>
            <a:ext cx="33832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1371600"/>
            <a:ext cx="329184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50876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1E293B"/>
                </a:solidFill>
                <a:latin typeface="Calibri"/>
                <a:ea typeface="Apple SD Gothic Neo"/>
              </a:rPr>
              <a:t>물리적 리스크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87452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5대 재해 유형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130552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Gumbel 극치통계 모델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386584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KMA 30년 관측 데이터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42616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Open-Meteo API 연동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89864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USACE 피해함수 적용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15468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EAL(연간예상손실) 산정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410712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복합 리스크 분석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1371600"/>
            <a:ext cx="3383280" cy="4389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1371600"/>
            <a:ext cx="329184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150876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1E293B"/>
                </a:solidFill>
                <a:latin typeface="Calibri"/>
                <a:ea typeface="Apple SD Gothic Neo"/>
              </a:rPr>
              <a:t>ESG 공시 지원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187452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KSSB/ISSB/TCFD 프레임워크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2130552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데이터 기반 준수도 평가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2386584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갭 분석 및 우선순위 도출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2642616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성숙도 모델 (5단계)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289864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규제 일정 자동 추적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3154680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공시 데이터 자동 생성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3410712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체크리스트 기반 점검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943600"/>
            <a:ext cx="1069848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Apple SD Gothic Neo"/>
              </a:rPr>
              <a:t>Tech Stack:  FastAPI  |  Next.js  |  Streamlit  |  Python  |  NGFS  |  Open-Meteo  |  python-pptx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Advisory  |  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Engagement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프로젝트 로드맵  |  3단계 실행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383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554480"/>
            <a:ext cx="3108960" cy="8229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020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  <a:ea typeface="Apple SD Gothic Neo"/>
              </a:rPr>
              <a:t>Phase 1: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  <a:ea typeface="Apple SD Gothic Neo"/>
              </a:rPr>
              <a:t>현황 진단 (4-6주)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301752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3B82F6"/>
                </a:solidFill>
                <a:latin typeface="Calibri"/>
                <a:ea typeface="Apple SD Gothic Neo"/>
              </a:rPr>
              <a:t>●  </a:t>
            </a:r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포트폴리오 데이터 수집 및 정리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3B82F6"/>
                </a:solidFill>
                <a:latin typeface="Calibri"/>
                <a:ea typeface="Apple SD Gothic Neo"/>
              </a:rPr>
              <a:t>●  </a:t>
            </a:r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전환·물리적 리스크 초기 분석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3B82F6"/>
                </a:solidFill>
                <a:latin typeface="Calibri"/>
                <a:ea typeface="Apple SD Gothic Neo"/>
              </a:rPr>
              <a:t>●  </a:t>
            </a:r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ESG 공시 갭 분석 수행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3B82F6"/>
                </a:solidFill>
                <a:latin typeface="Calibri"/>
                <a:ea typeface="Apple SD Gothic Neo"/>
              </a:rPr>
              <a:t>●  </a:t>
            </a:r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현행 거버넌스 체계 점검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3B82F6"/>
                </a:solidFill>
                <a:latin typeface="Calibri"/>
                <a:ea typeface="Apple SD Gothic Neo"/>
              </a:rPr>
              <a:t>●  </a:t>
            </a:r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경영진 보고 (중간 결과)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3832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71600"/>
            <a:ext cx="33832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1554480"/>
            <a:ext cx="3108960" cy="8229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60020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  <a:ea typeface="Apple SD Gothic Neo"/>
              </a:rPr>
              <a:t>Phase 2: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92024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  <a:ea typeface="Apple SD Gothic Neo"/>
              </a:rPr>
              <a:t>전략 수립 (6-8주)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60320"/>
            <a:ext cx="301752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F97316"/>
                </a:solidFill>
                <a:latin typeface="Calibri"/>
                <a:ea typeface="Apple SD Gothic Neo"/>
              </a:rPr>
              <a:t>●  </a:t>
            </a:r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시나리오별 심층 리스크 분석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F97316"/>
                </a:solidFill>
                <a:latin typeface="Calibri"/>
                <a:ea typeface="Apple SD Gothic Neo"/>
              </a:rPr>
              <a:t>●  </a:t>
            </a:r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탈탄소 전환 전략 개발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F97316"/>
                </a:solidFill>
                <a:latin typeface="Calibri"/>
                <a:ea typeface="Apple SD Gothic Neo"/>
              </a:rPr>
              <a:t>●  </a:t>
            </a:r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재무적 영향 정량화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F97316"/>
                </a:solidFill>
                <a:latin typeface="Calibri"/>
                <a:ea typeface="Apple SD Gothic Neo"/>
              </a:rPr>
              <a:t>●  </a:t>
            </a:r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K-ETS 대응 전략 수립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F97316"/>
                </a:solidFill>
                <a:latin typeface="Calibri"/>
                <a:ea typeface="Apple SD Gothic Neo"/>
              </a:rPr>
              <a:t>●  </a:t>
            </a:r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이사회 보고 및 승인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371600"/>
            <a:ext cx="33832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371600"/>
            <a:ext cx="338328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83880" y="1554480"/>
            <a:ext cx="3108960" cy="8229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60020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  <a:ea typeface="Apple SD Gothic Neo"/>
              </a:rPr>
              <a:t>Phase 3: 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92024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  <a:ea typeface="Apple SD Gothic Neo"/>
              </a:rPr>
              <a:t>공시 작성 (4-6주)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560320"/>
            <a:ext cx="301752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22C55E"/>
                </a:solidFill>
                <a:latin typeface="Calibri"/>
                <a:ea typeface="Apple SD Gothic Neo"/>
              </a:rPr>
              <a:t>●  </a:t>
            </a:r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KSSB 공시 양식 작성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22C55E"/>
                </a:solidFill>
                <a:latin typeface="Calibri"/>
                <a:ea typeface="Apple SD Gothic Neo"/>
              </a:rPr>
              <a:t>●  </a:t>
            </a:r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데이터 검증 및 인증 준비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22C55E"/>
                </a:solidFill>
                <a:latin typeface="Calibri"/>
                <a:ea typeface="Apple SD Gothic Neo"/>
              </a:rPr>
              <a:t>●  </a:t>
            </a:r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경영진 리뷰 및 최종 승인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22C55E"/>
                </a:solidFill>
                <a:latin typeface="Calibri"/>
                <a:ea typeface="Apple SD Gothic Neo"/>
              </a:rPr>
              <a:t>●  </a:t>
            </a:r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규제 기관 제출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22C55E"/>
                </a:solidFill>
                <a:latin typeface="Calibri"/>
                <a:ea typeface="Apple SD Gothic Neo"/>
              </a:rPr>
              <a:t>●  </a:t>
            </a:r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지속적 모니터링 체계 구축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347472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>
                <a:solidFill>
                  <a:srgbClr val="94A3B8"/>
                </a:solidFill>
                <a:latin typeface="Calibri"/>
                <a:ea typeface="Apple SD Gothic Neo"/>
              </a:rPr>
              <a:t>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347472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>
                <a:solidFill>
                  <a:srgbClr val="94A3B8"/>
                </a:solidFill>
                <a:latin typeface="Calibri"/>
                <a:ea typeface="Apple SD Gothic Neo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Advisory  |  Confidential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gradFill flip="none" rotWithShape="1">
        <a:gsLst>
          <a:gs pos="0">
            <a:srgbClr val="0F172A"/>
          </a:gs>
          <a:gs pos="100000">
            <a:srgbClr val="1E293B"/>
          </a:gs>
        </a:gsLst>
        <a:lin ang="5400000" scaled="1"/>
      </a:gra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  <a:ea typeface="Apple SD Gothic Neo"/>
              </a:rPr>
              <a:t>Ready to Start?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>
                <a:solidFill>
                  <a:srgbClr val="3B82F6"/>
                </a:solidFill>
                <a:latin typeface="Calibri"/>
                <a:ea typeface="Apple SD Gothic Neo"/>
              </a:rPr>
              <a:t>기후 리스크 공시, 지금 시작하세요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474720"/>
            <a:ext cx="914400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3B82F6"/>
                </a:solidFill>
                <a:latin typeface="Calibri"/>
                <a:ea typeface="Apple SD Gothic Neo"/>
              </a:rPr>
              <a:t>다음 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384048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Apple SD Gothic Neo"/>
              </a:rPr>
              <a:t>무료 포트폴리오 진단 (2주) → Phase 1 Assessment 시작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3B82F6"/>
                </a:solidFill>
                <a:latin typeface="Calibri"/>
                <a:ea typeface="Apple SD Gothic Neo"/>
              </a:rPr>
              <a:t>문의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38912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Apple SD Gothic Neo"/>
              </a:rPr>
              <a:t>[담당자 이름]  |  [email@company.com]  |  [02-XXXX-XXXX]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9377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3B82F6"/>
                </a:solidFill>
                <a:latin typeface="Calibri"/>
                <a:ea typeface="Apple SD Gothic Neo"/>
              </a:rPr>
              <a:t>웹사이트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93776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Apple SD Gothic Neo"/>
              </a:rPr>
              <a:t>[Climate Risk Platform URL]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5669280"/>
            <a:ext cx="914400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8521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  <a:ea typeface="Apple SD Gothic Neo"/>
              </a:rPr>
              <a:t>Climate Risk Advisory  |  Confidential  |  2026-02-25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