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54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  <a:ea typeface="Apple SD Gothic Neo"/>
              </a:rPr>
              <a:t>Climate Risk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B82F6"/>
                </a:solidFill>
                <a:latin typeface="Calibri"/>
                <a:ea typeface="Apple SD Gothic Neo"/>
              </a:rPr>
              <a:t>기후 리스크 분석 보고서  |  Net Zero 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2026-02-19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931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시설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17개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384048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3931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섹터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251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8개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84048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931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배출량 (S1+S2)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51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207M tCO2e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84048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931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자산규모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25196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$359B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669280"/>
            <a:ext cx="103327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NGFS 시나리오 기반 전환·물리적 리스크 통합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전환 리스크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NGFS 시나리오별 탄소비용·에너지비용·매출영향 NPV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Net Zero 2050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EF4444"/>
                </a:solidFill>
                <a:latin typeface="Calibri"/>
                <a:ea typeface="Apple SD Gothic Neo"/>
              </a:rPr>
              <a:t>-$44.8B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Risk: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2194560" cy="1097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1463040"/>
            <a:ext cx="2560320" cy="182880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463040"/>
            <a:ext cx="2377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6459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Below 2°C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0574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F97316"/>
                </a:solidFill>
                <a:latin typeface="Calibri"/>
                <a:ea typeface="Apple SD Gothic Neo"/>
              </a:rPr>
              <a:t>-$35.9B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51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Risk: 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017520"/>
            <a:ext cx="1756560" cy="10972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2560320" cy="1828800"/>
          </a:xfrm>
          <a:prstGeom prst="roundRect">
            <a:avLst/>
          </a:prstGeom>
          <a:solidFill>
            <a:srgbClr val="FEF9C3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23774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6459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Delayed Transition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EAB308"/>
                </a:solidFill>
                <a:latin typeface="Calibri"/>
                <a:ea typeface="Apple SD Gothic Neo"/>
              </a:rPr>
              <a:t>-$16.9B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51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Risk: 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017520"/>
            <a:ext cx="828202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98280" y="1463040"/>
            <a:ext cx="2560320" cy="182880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463040"/>
            <a:ext cx="2377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6459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Current Policies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574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22C55E"/>
                </a:solidFill>
                <a:latin typeface="Calibri"/>
                <a:ea typeface="Apple SD Gothic Neo"/>
              </a:rPr>
              <a:t>-$7.9B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6517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Risk: 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3017520"/>
            <a:ext cx="384601" cy="10972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Top 5 고위험 시설 (Net Zero 2050)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1520" y="40233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1828800"/>
                <a:gridCol w="1828800"/>
                <a:gridCol w="1645920"/>
                <a:gridCol w="192024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순위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섹터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Delta NPV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자산 대비 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리스크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울산정유공장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-$9.8B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-65.2%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대산정유공장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-$7.7B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-64.0%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당진화력발전소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발전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-$4.0B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-33.0%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석유화학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-$3.3B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-16.5%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태안화력발전소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발전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-$3.2B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-33.2%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물리적 리스크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5대 기후재해 유형별 시설 취약도 및 예상연간손실(EAL)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011680" cy="1097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홍수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집중호우/하천범람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1097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20116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50876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태풍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87452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강풍/폭풍해일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011680" cy="1097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0116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50876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폭염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87452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냉각효율/생산성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2011680" cy="1097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371600"/>
            <a:ext cx="201168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50876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가뭄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87452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용수부족/냉각수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2011680" cy="1097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371600"/>
            <a:ext cx="2011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150876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해수면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87452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연안시설 침수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시설별 연간예상손실(EAL) Top 5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31089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828800"/>
                <a:gridCol w="1645920"/>
                <a:gridCol w="2011680"/>
                <a:gridCol w="219456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순위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위치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위험등급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EAL ($M)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주요 재해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광양제철소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전남 광양시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$9925.9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여수석유화학단지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전남 여수시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$9459.2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화성반도체공장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경기 화성시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$8838.8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 남구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$8332.1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포항제철소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경북 포항시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$8286.2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Apple SD Gothic Neo"/>
              </a:rPr>
              <a:t>총 EAL: </a:t>
            </a:r>
            <a:r>
              <a:rPr sz="1400" b="1">
                <a:solidFill>
                  <a:srgbClr val="DBEAFE"/>
                </a:solidFill>
                <a:latin typeface="Calibri"/>
                <a:ea typeface="Apple SD Gothic Neo"/>
              </a:rPr>
              <a:t>$82160.4M</a:t>
            </a:r>
            <a:r>
              <a:rPr sz="1400" b="0">
                <a:solidFill>
                  <a:srgbClr val="FFFFFF"/>
                </a:solidFill>
                <a:latin typeface="Calibri"/>
                <a:ea typeface="Apple SD Gothic Neo"/>
              </a:rPr>
              <a:t>    </a:t>
            </a:r>
            <a:r>
              <a:rPr sz="1400" b="1">
                <a:solidFill>
                  <a:srgbClr val="FEE2E2"/>
                </a:solidFill>
                <a:latin typeface="Calibri"/>
                <a:ea typeface="Apple SD Gothic Neo"/>
              </a:rPr>
              <a:t>High 17개</a:t>
            </a:r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  |  </a:t>
            </a:r>
            <a:r>
              <a:rPr sz="1400" b="1">
                <a:solidFill>
                  <a:srgbClr val="FFEDD5"/>
                </a:solidFill>
                <a:latin typeface="Calibri"/>
                <a:ea typeface="Apple SD Gothic Neo"/>
              </a:rPr>
              <a:t>Medium 0개</a:t>
            </a:r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  |  </a:t>
            </a:r>
            <a:r>
              <a:rPr sz="1400" b="1">
                <a:solidFill>
                  <a:srgbClr val="DCFCE7"/>
                </a:solidFill>
                <a:latin typeface="Calibri"/>
                <a:ea typeface="Apple SD Gothic Neo"/>
              </a:rPr>
              <a:t>Low 0개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Analytical v1 | IPCC AR6 + KMA 30yr | Open-Meteo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