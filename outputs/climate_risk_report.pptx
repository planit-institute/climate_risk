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gradFill flip="none" rotWithShape="1">
        <a:gsLst>
          <a:gs pos="0">
            <a:srgbClr val="0F172A"/>
          </a:gs>
          <a:gs pos="100000">
            <a:srgbClr val="1E293B"/>
          </a:gs>
        </a:gsLst>
        <a:lin ang="5400000" scaled="1"/>
      </a:gradFill>
      <a:effectLst/>
    </p:bgPr>
  </p:bg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60320"/>
            <a:ext cx="91440" cy="20116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  <a:ea typeface="Apple SD Gothic Neo"/>
              </a:rPr>
              <a:t>Climate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6400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0">
                <a:solidFill>
                  <a:srgbClr val="3B82F6"/>
                </a:solidFill>
                <a:latin typeface="Calibri"/>
                <a:ea typeface="Apple SD Gothic Neo"/>
              </a:rPr>
              <a:t>기후 리스크 분석 보고서  |  Net Zero 2050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2026-02-19  |  Confidential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840480"/>
            <a:ext cx="256032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9319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시설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519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17개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3840480"/>
            <a:ext cx="256032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39319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섹터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2519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8개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840480"/>
            <a:ext cx="256032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39319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총 배출량 (S1+S2)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42519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207M tCO2e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3840480"/>
            <a:ext cx="2560320" cy="10058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931920"/>
            <a:ext cx="2286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총 자산규모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55480" y="4251960"/>
            <a:ext cx="2286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$359B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5669280"/>
            <a:ext cx="10332720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33272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NGFS 시나리오 기반 전환·물리적 리스크 통합 분석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전환 리스크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NGFS 시나리오별 탄소비용·에너지비용·매출영향 NPV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1828800"/>
          </a:xfrm>
          <a:prstGeom prst="roundRect">
            <a:avLst/>
          </a:prstGeom>
          <a:solidFill>
            <a:srgbClr val="FEE2E2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463040"/>
            <a:ext cx="237744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1E293B"/>
                </a:solidFill>
                <a:latin typeface="Calibri"/>
                <a:ea typeface="Apple SD Gothic Neo"/>
              </a:rPr>
              <a:t>Net Zero 2050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2194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EF4444"/>
                </a:solidFill>
                <a:latin typeface="Calibri"/>
                <a:ea typeface="Apple SD Gothic Neo"/>
              </a:rPr>
              <a:t>-$44.8B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517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475569"/>
                </a:solidFill>
                <a:latin typeface="Calibri"/>
                <a:ea typeface="Apple SD Gothic Neo"/>
              </a:rPr>
              <a:t>Risk: High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017520"/>
            <a:ext cx="2194560" cy="10972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0440" y="1463040"/>
            <a:ext cx="2560320" cy="1828800"/>
          </a:xfrm>
          <a:prstGeom prst="roundRect">
            <a:avLst/>
          </a:prstGeom>
          <a:solidFill>
            <a:srgbClr val="FFEDD5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80" y="1463040"/>
            <a:ext cx="237744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164592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1E293B"/>
                </a:solidFill>
                <a:latin typeface="Calibri"/>
                <a:ea typeface="Apple SD Gothic Neo"/>
              </a:rPr>
              <a:t>Below 2°C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2057400"/>
            <a:ext cx="2194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F97316"/>
                </a:solidFill>
                <a:latin typeface="Calibri"/>
                <a:ea typeface="Apple SD Gothic Neo"/>
              </a:rPr>
              <a:t>-$35.9B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6517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475569"/>
                </a:solidFill>
                <a:latin typeface="Calibri"/>
                <a:ea typeface="Apple SD Gothic Neo"/>
              </a:rPr>
              <a:t>Risk: 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3017520"/>
            <a:ext cx="1756560" cy="109728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1463040"/>
            <a:ext cx="2560320" cy="1828800"/>
          </a:xfrm>
          <a:prstGeom prst="roundRect">
            <a:avLst/>
          </a:prstGeom>
          <a:solidFill>
            <a:srgbClr val="FEF9C3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463040"/>
            <a:ext cx="2377440" cy="54864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164592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1E293B"/>
                </a:solidFill>
                <a:latin typeface="Calibri"/>
                <a:ea typeface="Apple SD Gothic Neo"/>
              </a:rPr>
              <a:t>Delayed Transition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057400"/>
            <a:ext cx="2194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EAB308"/>
                </a:solidFill>
                <a:latin typeface="Calibri"/>
                <a:ea typeface="Apple SD Gothic Neo"/>
              </a:rPr>
              <a:t>-$16.9B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6517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475569"/>
                </a:solidFill>
                <a:latin typeface="Calibri"/>
                <a:ea typeface="Apple SD Gothic Neo"/>
              </a:rPr>
              <a:t>Risk: 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92240" y="3017520"/>
            <a:ext cx="828202" cy="109728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098280" y="1463040"/>
            <a:ext cx="2560320" cy="1828800"/>
          </a:xfrm>
          <a:prstGeom prst="roundRect">
            <a:avLst/>
          </a:prstGeom>
          <a:solidFill>
            <a:srgbClr val="DCFCE7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1463040"/>
            <a:ext cx="237744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1160" y="164592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1">
                <a:solidFill>
                  <a:srgbClr val="1E293B"/>
                </a:solidFill>
                <a:latin typeface="Calibri"/>
                <a:ea typeface="Apple SD Gothic Neo"/>
              </a:rPr>
              <a:t>Current Policies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057400"/>
            <a:ext cx="21945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000" b="1">
                <a:solidFill>
                  <a:srgbClr val="22C55E"/>
                </a:solidFill>
                <a:latin typeface="Calibri"/>
                <a:ea typeface="Apple SD Gothic Neo"/>
              </a:rPr>
              <a:t>-$7.9B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2651760"/>
            <a:ext cx="2194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200" b="0">
                <a:solidFill>
                  <a:srgbClr val="475569"/>
                </a:solidFill>
                <a:latin typeface="Calibri"/>
                <a:ea typeface="Apple SD Gothic Neo"/>
              </a:rPr>
              <a:t>Risk: 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1160" y="3017520"/>
            <a:ext cx="384601" cy="109728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35661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E293B"/>
                </a:solidFill>
                <a:latin typeface="Calibri"/>
                <a:ea typeface="Apple SD Gothic Neo"/>
              </a:rPr>
              <a:t>Top 5 고위험 시설 (Net Zero 2050)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731520" y="402336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  <a:gridCol w="1828800"/>
                <a:gridCol w="1828800"/>
                <a:gridCol w="1645920"/>
                <a:gridCol w="192024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순위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시설명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섹터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Delta NPV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자산 대비 %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리스크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울산정유공장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정유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-$9.8B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-65.2%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대산정유공장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정유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-$7.7B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-64.0%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당진화력발전소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발전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-$4.0B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-33.0%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울산석유화학단지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석유화학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-$3.3B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-16.5%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태안화력발전소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발전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-$3.2B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-33.2%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731520" y="6537960"/>
            <a:ext cx="10698480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0" y="6565392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  <a:ea typeface="Apple SD Gothic Neo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65392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  <a:ea typeface="Apple SD Gothic Neo"/>
              </a:rPr>
              <a:t>Climate Risk Platform  |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9144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  <a:ea typeface="Apple SD Gothic Neo"/>
              </a:rPr>
              <a:t>물리적 리스크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5대 기후재해 유형별 시설 취약도 및 예상연간손실(EAL)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0116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011680" cy="457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0876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  <a:ea typeface="Apple SD Gothic Neo"/>
              </a:rPr>
              <a:t>홍수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87452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집중호우/하천범람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371600"/>
            <a:ext cx="20116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0" y="1371600"/>
            <a:ext cx="2011680" cy="457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50876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  <a:ea typeface="Apple SD Gothic Neo"/>
              </a:rPr>
              <a:t>태풍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87452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강풍/폭풍해일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1371600"/>
            <a:ext cx="20116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371600"/>
            <a:ext cx="201168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50876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  <a:ea typeface="Apple SD Gothic Neo"/>
              </a:rPr>
              <a:t>폭염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87452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냉각효율/생산성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371600"/>
            <a:ext cx="20116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0" y="1371600"/>
            <a:ext cx="2011680" cy="45720"/>
          </a:xfrm>
          <a:prstGeom prst="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150876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  <a:ea typeface="Apple SD Gothic Neo"/>
              </a:rPr>
              <a:t>가뭄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187452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용수부족/냉각수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0" y="1371600"/>
            <a:ext cx="2011680" cy="1097280"/>
          </a:xfrm>
          <a:prstGeom prst="roundRect">
            <a:avLst/>
          </a:prstGeom>
          <a:solidFill>
            <a:srgbClr val="DBEAFE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1371600"/>
            <a:ext cx="2011680" cy="45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38360" y="1508760"/>
            <a:ext cx="17373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  <a:ea typeface="Apple SD Gothic Neo"/>
              </a:rPr>
              <a:t>해수면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1874520"/>
            <a:ext cx="173736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100" b="0">
                <a:solidFill>
                  <a:srgbClr val="475569"/>
                </a:solidFill>
                <a:latin typeface="Calibri"/>
                <a:ea typeface="Apple SD Gothic Neo"/>
              </a:rPr>
              <a:t>연안시설 침수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26517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b="1">
                <a:solidFill>
                  <a:srgbClr val="1E293B"/>
                </a:solidFill>
                <a:latin typeface="Calibri"/>
                <a:ea typeface="Apple SD Gothic Neo"/>
              </a:rPr>
              <a:t>시설별 연간예상손실(EAL) Top 5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731520" y="31089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286000"/>
                <a:gridCol w="1828800"/>
                <a:gridCol w="1645920"/>
                <a:gridCol w="2011680"/>
                <a:gridCol w="2194560"/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순위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시설명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위치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위험등급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EAL ($M)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  <a:ea typeface="Apple SD Gothic Neo"/>
                        </a:rPr>
                        <a:t>주요 재해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광양제철소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전남 광양시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$9925.9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여수석유화학단지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전남 여수시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$9459.2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태풍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화성반도체공장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경기 화성시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$8838.8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4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울산석유화학단지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울산 남구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$8332.1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태풍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포항제철소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경북 포항시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F4444"/>
                          </a:solidFill>
                          <a:latin typeface="Calibri"/>
                          <a:ea typeface="Apple SD Gothic Neo"/>
                        </a:rPr>
                        <a:t>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$8286.2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E1E1E"/>
                          </a:solidFill>
                          <a:latin typeface="Calibri"/>
                          <a:ea typeface="Apple SD Gothic Neo"/>
                        </a:rPr>
                        <a:t>태풍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731520" y="5212080"/>
            <a:ext cx="10698480" cy="82296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>
            <a:outerShdw blurRad="50800" dist="25400" dir="5400000" algn="bl" rotWithShape="0">
              <a:srgbClr val="000000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03520"/>
            <a:ext cx="45720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  <a:ea typeface="Apple SD Gothic Neo"/>
              </a:rPr>
              <a:t>총 EAL: </a:t>
            </a:r>
            <a:r>
              <a:rPr sz="1400" b="1">
                <a:solidFill>
                  <a:srgbClr val="DBEAFE"/>
                </a:solidFill>
                <a:latin typeface="Calibri"/>
                <a:ea typeface="Apple SD Gothic Neo"/>
              </a:rPr>
              <a:t>$82160.4M</a:t>
            </a:r>
            <a:r>
              <a:rPr sz="1400" b="0">
                <a:solidFill>
                  <a:srgbClr val="FFFFFF"/>
                </a:solidFill>
                <a:latin typeface="Calibri"/>
                <a:ea typeface="Apple SD Gothic Neo"/>
              </a:rPr>
              <a:t>    </a:t>
            </a:r>
            <a:r>
              <a:rPr sz="1400" b="1">
                <a:solidFill>
                  <a:srgbClr val="FEE2E2"/>
                </a:solidFill>
                <a:latin typeface="Calibri"/>
                <a:ea typeface="Apple SD Gothic Neo"/>
              </a:rPr>
              <a:t>High 17개</a:t>
            </a:r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  |  </a:t>
            </a:r>
            <a:r>
              <a:rPr sz="1400" b="1">
                <a:solidFill>
                  <a:srgbClr val="FFEDD5"/>
                </a:solidFill>
                <a:latin typeface="Calibri"/>
                <a:ea typeface="Apple SD Gothic Neo"/>
              </a:rPr>
              <a:t>Medium 0개</a:t>
            </a:r>
            <a:r>
              <a:rPr sz="1400" b="0">
                <a:solidFill>
                  <a:srgbClr val="94A3B8"/>
                </a:solidFill>
                <a:latin typeface="Calibri"/>
                <a:ea typeface="Apple SD Gothic Neo"/>
              </a:rPr>
              <a:t>  |  </a:t>
            </a:r>
            <a:r>
              <a:rPr sz="1400" b="1">
                <a:solidFill>
                  <a:srgbClr val="DCFCE7"/>
                </a:solidFill>
                <a:latin typeface="Calibri"/>
                <a:ea typeface="Apple SD Gothic Neo"/>
              </a:rPr>
              <a:t>Low 0개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5349240"/>
            <a:ext cx="5029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200" b="0">
                <a:solidFill>
                  <a:srgbClr val="94A3B8"/>
                </a:solidFill>
                <a:latin typeface="Calibri"/>
                <a:ea typeface="Apple SD Gothic Neo"/>
              </a:rPr>
              <a:t>Analytical v1 | IPCC AR6 + KMA 30yr | Open-Meteo API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6537960"/>
            <a:ext cx="10698480" cy="1828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72800" y="6565392"/>
            <a:ext cx="914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  <a:ea typeface="Apple SD Gothic Ne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565392"/>
            <a:ext cx="54864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  <a:ea typeface="Apple SD Gothic Neo"/>
              </a:rPr>
              <a:t>Climate Risk Platform  |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